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34"/>
  </p:notesMasterIdLst>
  <p:sldIdLst>
    <p:sldId id="256" r:id="rId2"/>
    <p:sldId id="258" r:id="rId3"/>
    <p:sldId id="260" r:id="rId4"/>
    <p:sldId id="262" r:id="rId5"/>
    <p:sldId id="311" r:id="rId6"/>
    <p:sldId id="264" r:id="rId7"/>
    <p:sldId id="312" r:id="rId8"/>
    <p:sldId id="313" r:id="rId9"/>
    <p:sldId id="314" r:id="rId10"/>
    <p:sldId id="266" r:id="rId11"/>
    <p:sldId id="315" r:id="rId12"/>
    <p:sldId id="316" r:id="rId13"/>
    <p:sldId id="318" r:id="rId14"/>
    <p:sldId id="317" r:id="rId15"/>
    <p:sldId id="319" r:id="rId16"/>
    <p:sldId id="267" r:id="rId17"/>
    <p:sldId id="320" r:id="rId18"/>
    <p:sldId id="286" r:id="rId19"/>
    <p:sldId id="322" r:id="rId20"/>
    <p:sldId id="321" r:id="rId21"/>
    <p:sldId id="323" r:id="rId22"/>
    <p:sldId id="329" r:id="rId23"/>
    <p:sldId id="325" r:id="rId24"/>
    <p:sldId id="326" r:id="rId25"/>
    <p:sldId id="327" r:id="rId26"/>
    <p:sldId id="328" r:id="rId27"/>
    <p:sldId id="269" r:id="rId28"/>
    <p:sldId id="279" r:id="rId29"/>
    <p:sldId id="330" r:id="rId30"/>
    <p:sldId id="331" r:id="rId31"/>
    <p:sldId id="332" r:id="rId32"/>
    <p:sldId id="333" r:id="rId33"/>
  </p:sldIdLst>
  <p:sldSz cx="9144000" cy="5143500" type="screen16x9"/>
  <p:notesSz cx="6858000" cy="9144000"/>
  <p:embeddedFontLst>
    <p:embeddedFont>
      <p:font typeface="Anaheim" panose="020B0604020202020204" charset="0"/>
      <p:regular r:id="rId35"/>
      <p:bold r:id="rId36"/>
    </p:embeddedFont>
    <p:embeddedFont>
      <p:font typeface="Bebas Neue" panose="020B0606020202050201" pitchFamily="34" charset="0"/>
      <p:regular r:id="rId37"/>
    </p:embeddedFont>
    <p:embeddedFont>
      <p:font typeface="Cambria Math" panose="02040503050406030204" pitchFamily="18" charset="0"/>
      <p:regular r:id="rId38"/>
    </p:embeddedFont>
    <p:embeddedFont>
      <p:font typeface="Comfortaa" panose="020B0604020202020204" charset="0"/>
      <p:regular r:id="rId39"/>
      <p:bold r:id="rId40"/>
    </p:embeddedFont>
    <p:embeddedFont>
      <p:font typeface="Fira Code" panose="020B0809050000020004" pitchFamily="49" charset="0"/>
      <p:regular r:id="rId41"/>
      <p:bold r:id="rId42"/>
    </p:embeddedFont>
    <p:embeddedFont>
      <p:font typeface="Nunito Light" pitchFamily="2" charset="0"/>
      <p:regular r:id="rId43"/>
      <p:italic r:id="rId44"/>
    </p:embeddedFont>
    <p:embeddedFont>
      <p:font typeface="Source Code Pro" panose="020B0509030403020204" pitchFamily="49" charset="0"/>
      <p:regular r:id="rId45"/>
      <p:bold r:id="rId46"/>
      <p:italic r:id="rId47"/>
      <p:boldItalic r:id="rId48"/>
    </p:embeddedFont>
    <p:embeddedFont>
      <p:font typeface="Source Code Pro Medium" panose="020B0509030403020204" pitchFamily="49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64B5"/>
    <a:srgbClr val="FD4A4A"/>
    <a:srgbClr val="FFFF99"/>
    <a:srgbClr val="4CAE97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629500-11D0-4445-9127-5E40821543A0}">
  <a:tblStyle styleId="{AC629500-11D0-4445-9127-5E40821543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588B833-C108-4C4D-A2D4-81A35ACA12B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insertion sort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ورقة1!$B$2:$B$5</c:f>
              <c:numCache>
                <c:formatCode>General</c:formatCode>
                <c:ptCount val="4"/>
                <c:pt idx="0">
                  <c:v>2</c:v>
                </c:pt>
                <c:pt idx="1">
                  <c:v>43</c:v>
                </c:pt>
                <c:pt idx="2">
                  <c:v>174</c:v>
                </c:pt>
                <c:pt idx="3">
                  <c:v>679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D4-4209-A388-239B1B203A98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merge sort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9</c:v>
                </c:pt>
                <c:pt idx="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D4-4209-A388-239B1B203A98}"/>
            </c:ext>
          </c:extLst>
        </c:ser>
        <c:ser>
          <c:idx val="2"/>
          <c:order val="2"/>
          <c:tx>
            <c:strRef>
              <c:f>ورقة1!$D$1</c:f>
              <c:strCache>
                <c:ptCount val="1"/>
                <c:pt idx="0">
                  <c:v>heap sort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ورقة1!$D$2:$D$5</c:f>
              <c:numCache>
                <c:formatCode>General</c:formatCode>
                <c:ptCount val="4"/>
                <c:pt idx="0">
                  <c:v>10</c:v>
                </c:pt>
                <c:pt idx="1">
                  <c:v>2</c:v>
                </c:pt>
                <c:pt idx="2">
                  <c:v>8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D4-4209-A388-239B1B203A98}"/>
            </c:ext>
          </c:extLst>
        </c:ser>
        <c:ser>
          <c:idx val="3"/>
          <c:order val="3"/>
          <c:tx>
            <c:strRef>
              <c:f>ورقة1!$E$1</c:f>
              <c:strCache>
                <c:ptCount val="1"/>
                <c:pt idx="0">
                  <c:v>quick sort 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ورقة1!$E$2:$E$5</c:f>
              <c:numCache>
                <c:formatCode>General</c:formatCode>
                <c:ptCount val="4"/>
                <c:pt idx="0">
                  <c:v>1</c:v>
                </c:pt>
                <c:pt idx="1">
                  <c:v>7</c:v>
                </c:pt>
                <c:pt idx="2">
                  <c:v>7</c:v>
                </c:pt>
                <c:pt idx="3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4D4-4209-A388-239B1B203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7799679"/>
        <c:axId val="1207801663"/>
      </c:lineChart>
      <c:catAx>
        <c:axId val="1207799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801663"/>
        <c:crosses val="autoZero"/>
        <c:auto val="1"/>
        <c:lblAlgn val="ctr"/>
        <c:lblOffset val="100"/>
        <c:noMultiLvlLbl val="0"/>
      </c:catAx>
      <c:valAx>
        <c:axId val="120780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79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insertion sort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D4-4209-A388-239B1B203A98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merge sort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D4-4209-A388-239B1B203A98}"/>
            </c:ext>
          </c:extLst>
        </c:ser>
        <c:ser>
          <c:idx val="2"/>
          <c:order val="2"/>
          <c:tx>
            <c:strRef>
              <c:f>ورقة1!$D$1</c:f>
              <c:strCache>
                <c:ptCount val="1"/>
                <c:pt idx="0">
                  <c:v>heap sort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D4-4209-A388-239B1B203A98}"/>
            </c:ext>
          </c:extLst>
        </c:ser>
        <c:ser>
          <c:idx val="3"/>
          <c:order val="3"/>
          <c:tx>
            <c:strRef>
              <c:f>ورقة1!$E$1</c:f>
              <c:strCache>
                <c:ptCount val="1"/>
                <c:pt idx="0">
                  <c:v>quick sort 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ورقة1!$E$2:$E$5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4D4-4209-A388-239B1B203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7799679"/>
        <c:axId val="1207801663"/>
      </c:lineChart>
      <c:catAx>
        <c:axId val="1207799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801663"/>
        <c:crosses val="autoZero"/>
        <c:auto val="1"/>
        <c:lblAlgn val="ctr"/>
        <c:lblOffset val="100"/>
        <c:noMultiLvlLbl val="0"/>
      </c:catAx>
      <c:valAx>
        <c:axId val="120780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79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844251933181693E-2"/>
          <c:y val="6.9029234407138138E-2"/>
          <c:w val="0.89506969660773184"/>
          <c:h val="0.77712430325339743"/>
        </c:manualLayout>
      </c:layout>
      <c:lineChart>
        <c:grouping val="standar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insertion sort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ورقة1!$B$2:$B$5</c:f>
              <c:numCache>
                <c:formatCode>General</c:formatCode>
                <c:ptCount val="4"/>
                <c:pt idx="0">
                  <c:v>18</c:v>
                </c:pt>
                <c:pt idx="1">
                  <c:v>52</c:v>
                </c:pt>
                <c:pt idx="2">
                  <c:v>356</c:v>
                </c:pt>
                <c:pt idx="3">
                  <c:v>1320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D4-4209-A388-239B1B203A98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merge sort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D4-4209-A388-239B1B203A98}"/>
            </c:ext>
          </c:extLst>
        </c:ser>
        <c:ser>
          <c:idx val="2"/>
          <c:order val="2"/>
          <c:tx>
            <c:strRef>
              <c:f>ورقة1!$D$1</c:f>
              <c:strCache>
                <c:ptCount val="1"/>
                <c:pt idx="0">
                  <c:v>heap sort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ورقة1!$D$2:$D$5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7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D4-4209-A388-239B1B203A98}"/>
            </c:ext>
          </c:extLst>
        </c:ser>
        <c:ser>
          <c:idx val="3"/>
          <c:order val="3"/>
          <c:tx>
            <c:strRef>
              <c:f>ورقة1!$E$1</c:f>
              <c:strCache>
                <c:ptCount val="1"/>
                <c:pt idx="0">
                  <c:v>quick sort 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ورقة1!$E$2:$E$5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4D4-4209-A388-239B1B203A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07799679"/>
        <c:axId val="1207801663"/>
      </c:lineChart>
      <c:catAx>
        <c:axId val="1207799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801663"/>
        <c:crosses val="autoZero"/>
        <c:auto val="1"/>
        <c:lblAlgn val="ctr"/>
        <c:lblOffset val="100"/>
        <c:noMultiLvlLbl val="0"/>
      </c:catAx>
      <c:valAx>
        <c:axId val="120780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79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insertion sort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ورقة1!$B$2:$B$5</c:f>
              <c:numCache>
                <c:formatCode>General</c:formatCode>
                <c:ptCount val="4"/>
                <c:pt idx="0">
                  <c:v>7</c:v>
                </c:pt>
                <c:pt idx="1">
                  <c:v>5</c:v>
                </c:pt>
                <c:pt idx="2">
                  <c:v>129</c:v>
                </c:pt>
                <c:pt idx="3">
                  <c:v>530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D4-4209-A388-239B1B203A98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merge sort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13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D4-4209-A388-239B1B203A98}"/>
            </c:ext>
          </c:extLst>
        </c:ser>
        <c:ser>
          <c:idx val="2"/>
          <c:order val="2"/>
          <c:tx>
            <c:strRef>
              <c:f>ورقة1!$D$1</c:f>
              <c:strCache>
                <c:ptCount val="1"/>
                <c:pt idx="0">
                  <c:v>heap sort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ورقة1!$D$2:$D$5</c:f>
              <c:numCache>
                <c:formatCode>General</c:formatCode>
                <c:ptCount val="4"/>
                <c:pt idx="0">
                  <c:v>10</c:v>
                </c:pt>
                <c:pt idx="1">
                  <c:v>2</c:v>
                </c:pt>
                <c:pt idx="2">
                  <c:v>8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D4-4209-A388-239B1B203A98}"/>
            </c:ext>
          </c:extLst>
        </c:ser>
        <c:ser>
          <c:idx val="3"/>
          <c:order val="3"/>
          <c:tx>
            <c:strRef>
              <c:f>ورقة1!$E$1</c:f>
              <c:strCache>
                <c:ptCount val="1"/>
                <c:pt idx="0">
                  <c:v>quick sort 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ورقة1!$A$2:$A$5</c:f>
              <c:numCache>
                <c:formatCode>#,##0</c:formatCode>
                <c:ptCount val="4"/>
                <c:pt idx="0" formatCode="General">
                  <c:v>1000</c:v>
                </c:pt>
                <c:pt idx="1">
                  <c:v>10000</c:v>
                </c:pt>
                <c:pt idx="2">
                  <c:v>50000</c:v>
                </c:pt>
                <c:pt idx="3">
                  <c:v>100000</c:v>
                </c:pt>
              </c:numCache>
            </c:numRef>
          </c:cat>
          <c:val>
            <c:numRef>
              <c:f>ورقة1!$E$2:$E$5</c:f>
              <c:numCache>
                <c:formatCode>General</c:formatCode>
                <c:ptCount val="4"/>
                <c:pt idx="0">
                  <c:v>1</c:v>
                </c:pt>
                <c:pt idx="1">
                  <c:v>7</c:v>
                </c:pt>
                <c:pt idx="2">
                  <c:v>7</c:v>
                </c:pt>
                <c:pt idx="3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4D4-4209-A388-239B1B203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7799679"/>
        <c:axId val="1207801663"/>
      </c:lineChart>
      <c:catAx>
        <c:axId val="1207799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801663"/>
        <c:crosses val="autoZero"/>
        <c:auto val="1"/>
        <c:lblAlgn val="ctr"/>
        <c:lblOffset val="100"/>
        <c:noMultiLvlLbl val="0"/>
      </c:catAx>
      <c:valAx>
        <c:axId val="120780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79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4A22A94A-66A4-8964-334F-98856CB0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40C41A4D-D788-2C54-F6CE-4CB79E5DC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DA0EC56C-403A-8597-9931-B2874932A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884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2014346F-3B60-2952-49D3-AE862CCE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84D420EB-AECA-845D-D9A9-1BD0BE202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321162E1-D765-C73F-76E6-B881295DF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078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064B7E8C-7910-9A4F-CCA7-2A430915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54dda1946d_6_344:notes">
            <a:extLst>
              <a:ext uri="{FF2B5EF4-FFF2-40B4-BE49-F238E27FC236}">
                <a16:creationId xmlns:a16="http://schemas.microsoft.com/office/drawing/2014/main" id="{6ADF3CC9-4C70-F24B-C92D-06C234C99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54dda1946d_6_344:notes">
            <a:extLst>
              <a:ext uri="{FF2B5EF4-FFF2-40B4-BE49-F238E27FC236}">
                <a16:creationId xmlns:a16="http://schemas.microsoft.com/office/drawing/2014/main" id="{C2BE6971-DC79-58F9-249F-FBEE523AB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099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134CD705-0147-86C5-158B-941112AEE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C47FED23-71C4-22C2-8F88-C5CA4627E4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D0305D87-546F-D156-FB7E-5D1081F1E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754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248D7B62-A5E9-7E36-4A5C-0059B99D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3D3F5A67-3014-2B68-6897-19CDCBCC07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1A8756A6-9B2E-FC92-BC4A-15422E5A9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106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>
          <a:extLst>
            <a:ext uri="{FF2B5EF4-FFF2-40B4-BE49-F238E27FC236}">
              <a16:creationId xmlns:a16="http://schemas.microsoft.com/office/drawing/2014/main" id="{F3700469-B1E2-7D48-0A4F-5AC96F24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d5260bdd85_0_256:notes">
            <a:extLst>
              <a:ext uri="{FF2B5EF4-FFF2-40B4-BE49-F238E27FC236}">
                <a16:creationId xmlns:a16="http://schemas.microsoft.com/office/drawing/2014/main" id="{B458892D-80D7-19F2-6EAD-0748085EB6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d5260bdd85_0_256:notes">
            <a:extLst>
              <a:ext uri="{FF2B5EF4-FFF2-40B4-BE49-F238E27FC236}">
                <a16:creationId xmlns:a16="http://schemas.microsoft.com/office/drawing/2014/main" id="{3EE4F57D-966E-4C51-A941-2461BA14CA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501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9495C594-2439-F263-15B3-9312BCA9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DF429234-B189-6BF3-4600-CF99945CD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67BCA602-868E-D668-C125-A6273FA7F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871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74ED85AB-060C-092D-5DB3-2F8DDE1BA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54dda1946d_6_344:notes">
            <a:extLst>
              <a:ext uri="{FF2B5EF4-FFF2-40B4-BE49-F238E27FC236}">
                <a16:creationId xmlns:a16="http://schemas.microsoft.com/office/drawing/2014/main" id="{6B99748F-99EE-F24C-04E1-A1C613D02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54dda1946d_6_344:notes">
            <a:extLst>
              <a:ext uri="{FF2B5EF4-FFF2-40B4-BE49-F238E27FC236}">
                <a16:creationId xmlns:a16="http://schemas.microsoft.com/office/drawing/2014/main" id="{CD527CEE-93B6-D563-EB6C-3CB57CE19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355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1EBE78C8-7AAE-D628-2875-1766C78C9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95F84140-5013-D2B9-5068-BABD4735D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67367E2F-3FBE-35E3-8FED-2F15A24A3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5726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7466A1DF-C6C8-E162-9529-6C8BB13B1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423C3188-68D2-200D-5394-23D9FD17B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AF7537CC-D0E5-B9C0-D7CC-51AE8AD379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4451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>
          <a:extLst>
            <a:ext uri="{FF2B5EF4-FFF2-40B4-BE49-F238E27FC236}">
              <a16:creationId xmlns:a16="http://schemas.microsoft.com/office/drawing/2014/main" id="{D496EE9B-F750-97D7-316E-27A32A3B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4dda1946d_4_2701:notes">
            <a:extLst>
              <a:ext uri="{FF2B5EF4-FFF2-40B4-BE49-F238E27FC236}">
                <a16:creationId xmlns:a16="http://schemas.microsoft.com/office/drawing/2014/main" id="{A14B491B-D0CF-4AC8-DA15-C86304B20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4dda1946d_4_2701:notes">
            <a:extLst>
              <a:ext uri="{FF2B5EF4-FFF2-40B4-BE49-F238E27FC236}">
                <a16:creationId xmlns:a16="http://schemas.microsoft.com/office/drawing/2014/main" id="{7FE03FA4-0449-14F6-7133-D7004BB71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302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>
          <a:extLst>
            <a:ext uri="{FF2B5EF4-FFF2-40B4-BE49-F238E27FC236}">
              <a16:creationId xmlns:a16="http://schemas.microsoft.com/office/drawing/2014/main" id="{46EE7583-EC51-A557-0541-9FAD9C99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4dda1946d_4_2701:notes">
            <a:extLst>
              <a:ext uri="{FF2B5EF4-FFF2-40B4-BE49-F238E27FC236}">
                <a16:creationId xmlns:a16="http://schemas.microsoft.com/office/drawing/2014/main" id="{83B3C126-3366-8AC4-2CF6-A4F772D26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4dda1946d_4_2701:notes">
            <a:extLst>
              <a:ext uri="{FF2B5EF4-FFF2-40B4-BE49-F238E27FC236}">
                <a16:creationId xmlns:a16="http://schemas.microsoft.com/office/drawing/2014/main" id="{21AEF408-D51D-115D-BB9B-5DA4E5934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88551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>
          <a:extLst>
            <a:ext uri="{FF2B5EF4-FFF2-40B4-BE49-F238E27FC236}">
              <a16:creationId xmlns:a16="http://schemas.microsoft.com/office/drawing/2014/main" id="{0F091D03-EF7A-AD5C-70F5-2DFC3D8B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4dda1946d_4_2701:notes">
            <a:extLst>
              <a:ext uri="{FF2B5EF4-FFF2-40B4-BE49-F238E27FC236}">
                <a16:creationId xmlns:a16="http://schemas.microsoft.com/office/drawing/2014/main" id="{7B32C213-B31F-4A6F-A40A-6946BFDBE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4dda1946d_4_2701:notes">
            <a:extLst>
              <a:ext uri="{FF2B5EF4-FFF2-40B4-BE49-F238E27FC236}">
                <a16:creationId xmlns:a16="http://schemas.microsoft.com/office/drawing/2014/main" id="{5306FB6B-CAEB-8C52-BA67-8BE8A09B5A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623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8E10D7C0-9E01-A86C-5129-3301387E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E7246534-5C0E-BE7F-C38E-C9F1934AB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923D8B00-1287-D51E-C558-FB991FFBD0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47802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>
          <a:extLst>
            <a:ext uri="{FF2B5EF4-FFF2-40B4-BE49-F238E27FC236}">
              <a16:creationId xmlns:a16="http://schemas.microsoft.com/office/drawing/2014/main" id="{D8857445-FE0D-5222-7F8D-964001EF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4dda1946d_4_2701:notes">
            <a:extLst>
              <a:ext uri="{FF2B5EF4-FFF2-40B4-BE49-F238E27FC236}">
                <a16:creationId xmlns:a16="http://schemas.microsoft.com/office/drawing/2014/main" id="{09E1BDAA-8B9B-BE52-0F2D-1C4E07CA6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4dda1946d_4_2701:notes">
            <a:extLst>
              <a:ext uri="{FF2B5EF4-FFF2-40B4-BE49-F238E27FC236}">
                <a16:creationId xmlns:a16="http://schemas.microsoft.com/office/drawing/2014/main" id="{D3602DC6-095E-C120-A9C9-3AE1F4404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3611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>
          <a:extLst>
            <a:ext uri="{FF2B5EF4-FFF2-40B4-BE49-F238E27FC236}">
              <a16:creationId xmlns:a16="http://schemas.microsoft.com/office/drawing/2014/main" id="{88AF05F6-8AE7-53F5-6391-59FC2F00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4dda1946d_4_2701:notes">
            <a:extLst>
              <a:ext uri="{FF2B5EF4-FFF2-40B4-BE49-F238E27FC236}">
                <a16:creationId xmlns:a16="http://schemas.microsoft.com/office/drawing/2014/main" id="{281A4E08-54E1-6C75-3C5D-9E88A2BD3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4dda1946d_4_2701:notes">
            <a:extLst>
              <a:ext uri="{FF2B5EF4-FFF2-40B4-BE49-F238E27FC236}">
                <a16:creationId xmlns:a16="http://schemas.microsoft.com/office/drawing/2014/main" id="{2B2A6738-551C-40EE-CFD4-5AAC784A7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621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>
          <a:extLst>
            <a:ext uri="{FF2B5EF4-FFF2-40B4-BE49-F238E27FC236}">
              <a16:creationId xmlns:a16="http://schemas.microsoft.com/office/drawing/2014/main" id="{934D0DE8-59E5-81E8-D7CC-C1B76368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4dda1946d_4_2701:notes">
            <a:extLst>
              <a:ext uri="{FF2B5EF4-FFF2-40B4-BE49-F238E27FC236}">
                <a16:creationId xmlns:a16="http://schemas.microsoft.com/office/drawing/2014/main" id="{B9B9319B-0D89-FB07-00C2-BDDDAAB06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4dda1946d_4_2701:notes">
            <a:extLst>
              <a:ext uri="{FF2B5EF4-FFF2-40B4-BE49-F238E27FC236}">
                <a16:creationId xmlns:a16="http://schemas.microsoft.com/office/drawing/2014/main" id="{2CAB0E6F-CD5D-C7A3-0DB4-B492F6E09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526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>
          <a:extLst>
            <a:ext uri="{FF2B5EF4-FFF2-40B4-BE49-F238E27FC236}">
              <a16:creationId xmlns:a16="http://schemas.microsoft.com/office/drawing/2014/main" id="{F4FBDAFB-1C3F-E62E-5706-3D321946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4dda1946d_4_2701:notes">
            <a:extLst>
              <a:ext uri="{FF2B5EF4-FFF2-40B4-BE49-F238E27FC236}">
                <a16:creationId xmlns:a16="http://schemas.microsoft.com/office/drawing/2014/main" id="{B725ADF0-437F-EE42-764F-8873DA9DD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4dda1946d_4_2701:notes">
            <a:extLst>
              <a:ext uri="{FF2B5EF4-FFF2-40B4-BE49-F238E27FC236}">
                <a16:creationId xmlns:a16="http://schemas.microsoft.com/office/drawing/2014/main" id="{579127C1-EF2E-5772-9379-3DF40B5E5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063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>
          <a:extLst>
            <a:ext uri="{FF2B5EF4-FFF2-40B4-BE49-F238E27FC236}">
              <a16:creationId xmlns:a16="http://schemas.microsoft.com/office/drawing/2014/main" id="{4F7869DF-5151-EA94-580F-B3C7A3CC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0_3:notes">
            <a:extLst>
              <a:ext uri="{FF2B5EF4-FFF2-40B4-BE49-F238E27FC236}">
                <a16:creationId xmlns:a16="http://schemas.microsoft.com/office/drawing/2014/main" id="{A398ED8F-A9A6-9735-0C1E-5901D33FE8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0_3:notes">
            <a:extLst>
              <a:ext uri="{FF2B5EF4-FFF2-40B4-BE49-F238E27FC236}">
                <a16:creationId xmlns:a16="http://schemas.microsoft.com/office/drawing/2014/main" id="{7331E222-B231-830D-A122-DDFEDA50B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59406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>
          <a:extLst>
            <a:ext uri="{FF2B5EF4-FFF2-40B4-BE49-F238E27FC236}">
              <a16:creationId xmlns:a16="http://schemas.microsoft.com/office/drawing/2014/main" id="{7B9E8B60-3B61-755F-8385-7E2B9A84B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0_3:notes">
            <a:extLst>
              <a:ext uri="{FF2B5EF4-FFF2-40B4-BE49-F238E27FC236}">
                <a16:creationId xmlns:a16="http://schemas.microsoft.com/office/drawing/2014/main" id="{D6A84E73-E077-C16A-ACC5-509B8D805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0_3:notes">
            <a:extLst>
              <a:ext uri="{FF2B5EF4-FFF2-40B4-BE49-F238E27FC236}">
                <a16:creationId xmlns:a16="http://schemas.microsoft.com/office/drawing/2014/main" id="{1D082A2B-C9D4-A67F-3206-41915EA2C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4594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>
          <a:extLst>
            <a:ext uri="{FF2B5EF4-FFF2-40B4-BE49-F238E27FC236}">
              <a16:creationId xmlns:a16="http://schemas.microsoft.com/office/drawing/2014/main" id="{FB342633-5F1E-06D5-52F9-0654BDB8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0_3:notes">
            <a:extLst>
              <a:ext uri="{FF2B5EF4-FFF2-40B4-BE49-F238E27FC236}">
                <a16:creationId xmlns:a16="http://schemas.microsoft.com/office/drawing/2014/main" id="{DDDDCD5F-F3EE-988F-9C5D-1BD05EC9E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0_3:notes">
            <a:extLst>
              <a:ext uri="{FF2B5EF4-FFF2-40B4-BE49-F238E27FC236}">
                <a16:creationId xmlns:a16="http://schemas.microsoft.com/office/drawing/2014/main" id="{4D68BE09-4A7D-9F1D-30E2-AAE3FE548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60668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A008FC63-4E6E-EBF3-D8B2-3BC0ABBE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>
            <a:extLst>
              <a:ext uri="{FF2B5EF4-FFF2-40B4-BE49-F238E27FC236}">
                <a16:creationId xmlns:a16="http://schemas.microsoft.com/office/drawing/2014/main" id="{FFF6F6C5-40A2-D2C0-A461-B08DFF821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4dfce81f19_0_45:notes">
            <a:extLst>
              <a:ext uri="{FF2B5EF4-FFF2-40B4-BE49-F238E27FC236}">
                <a16:creationId xmlns:a16="http://schemas.microsoft.com/office/drawing/2014/main" id="{F7F8EC99-E2C8-C3B0-7753-BFE2C170D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497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8313825" y="353000"/>
            <a:ext cx="473100" cy="186500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3465225" y="1529000"/>
            <a:ext cx="4965600" cy="30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355250" y="1307100"/>
            <a:ext cx="4075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13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3175501" y="2833427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4243000" y="-180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713225" y="1402850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713225" y="2466050"/>
            <a:ext cx="3249000" cy="14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997700" y="209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3522987" y="275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6051233" y="3242600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720000" y="143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3292047" y="209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5867044" y="2582600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3500600" y="1923775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6445791" y="1923775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3500600" y="3566750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6445791" y="3566750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3194436" y="14182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3194436" y="30612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6139611" y="14182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6139611" y="30612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39490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386475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39490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386475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6334599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6334599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113052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3582900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6052748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113052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3582900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6052748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8193116" y="446250"/>
            <a:ext cx="414956" cy="186500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8" r:id="rId6"/>
    <p:sldLayoutId id="2147483659" r:id="rId7"/>
    <p:sldLayoutId id="2147483662" r:id="rId8"/>
    <p:sldLayoutId id="2147483666" r:id="rId9"/>
    <p:sldLayoutId id="2147483667" r:id="rId10"/>
    <p:sldLayoutId id="2147483668" r:id="rId11"/>
    <p:sldLayoutId id="2147483672" r:id="rId12"/>
    <p:sldLayoutId id="214748367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Sorting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        Algorithms </a:t>
            </a:r>
            <a:endParaRPr dirty="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Benchmark</a:t>
            </a:r>
            <a:endParaRPr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2449650" y="3389113"/>
            <a:ext cx="5852500" cy="7826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en" sz="1400" dirty="0"/>
              <a:t>&lt; Course : Algorithm,</a:t>
            </a:r>
            <a:r>
              <a:rPr lang="en" dirty="0"/>
              <a:t> Programming Language : Java , Students : Fatima Naser , Isra’ Hasan </a:t>
            </a:r>
            <a:r>
              <a:rPr lang="en" sz="1400" dirty="0"/>
              <a:t> &gt;</a:t>
            </a:r>
            <a:endParaRPr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 dirty="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255130" y="696438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 </a:t>
            </a:r>
            <a:r>
              <a:rPr lang="en" dirty="0">
                <a:solidFill>
                  <a:schemeClr val="accent4"/>
                </a:solidFill>
              </a:rPr>
              <a:t>Goal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07" name="Google Shape;307;p33"/>
          <p:cNvSpPr txBox="1">
            <a:spLocks noGrp="1"/>
          </p:cNvSpPr>
          <p:nvPr>
            <p:ph type="subTitle" idx="1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Without  built-in Libraries</a:t>
            </a:r>
            <a:endParaRPr dirty="0"/>
          </a:p>
        </p:txBody>
      </p:sp>
      <p:sp>
        <p:nvSpPr>
          <p:cNvPr id="309" name="Google Shape;309;p33"/>
          <p:cNvSpPr txBox="1">
            <a:spLocks noGrp="1"/>
          </p:cNvSpPr>
          <p:nvPr>
            <p:ph type="subTitle" idx="3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</a:t>
            </a:r>
            <a:r>
              <a:rPr lang="en" dirty="0"/>
              <a:t>ith different input size </a:t>
            </a:r>
            <a:endParaRPr dirty="0"/>
          </a:p>
        </p:txBody>
      </p:sp>
      <p:sp>
        <p:nvSpPr>
          <p:cNvPr id="310" name="Google Shape;310;p33"/>
          <p:cNvSpPr txBox="1">
            <a:spLocks noGrp="1"/>
          </p:cNvSpPr>
          <p:nvPr>
            <p:ph type="title" idx="4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1" name="Google Shape;311;p33"/>
          <p:cNvSpPr txBox="1">
            <a:spLocks noGrp="1"/>
          </p:cNvSpPr>
          <p:nvPr>
            <p:ph type="title" idx="5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2" name="Google Shape;312;p33"/>
          <p:cNvSpPr txBox="1">
            <a:spLocks noGrp="1"/>
          </p:cNvSpPr>
          <p:nvPr>
            <p:ph type="title" idx="6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3" name="Google Shape;313;p33"/>
          <p:cNvSpPr txBox="1">
            <a:spLocks noGrp="1"/>
          </p:cNvSpPr>
          <p:nvPr>
            <p:ph type="subTitle" idx="7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Implement Sorting Algorithms</a:t>
            </a:r>
            <a:endParaRPr sz="1800" dirty="0"/>
          </a:p>
        </p:txBody>
      </p:sp>
      <p:sp>
        <p:nvSpPr>
          <p:cNvPr id="314" name="Google Shape;314;p33"/>
          <p:cNvSpPr txBox="1">
            <a:spLocks noGrp="1"/>
          </p:cNvSpPr>
          <p:nvPr>
            <p:ph type="subTitle" idx="8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Compare Execution Time </a:t>
            </a:r>
            <a:endParaRPr dirty="0"/>
          </a:p>
        </p:txBody>
      </p:sp>
      <p:sp>
        <p:nvSpPr>
          <p:cNvPr id="315" name="Google Shape;315;p33"/>
          <p:cNvSpPr txBox="1">
            <a:spLocks noGrp="1"/>
          </p:cNvSpPr>
          <p:nvPr>
            <p:ph type="subTitle" idx="9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Analyze Performance </a:t>
            </a:r>
            <a:endParaRPr dirty="0"/>
          </a:p>
        </p:txBody>
      </p:sp>
      <p:grpSp>
        <p:nvGrpSpPr>
          <p:cNvPr id="316" name="Google Shape;316;p33"/>
          <p:cNvGrpSpPr/>
          <p:nvPr/>
        </p:nvGrpSpPr>
        <p:grpSpPr>
          <a:xfrm>
            <a:off x="358925" y="1867675"/>
            <a:ext cx="2142175" cy="2736325"/>
            <a:chOff x="358925" y="1867675"/>
            <a:chExt cx="2142175" cy="2736325"/>
          </a:xfrm>
        </p:grpSpPr>
        <p:sp>
          <p:nvSpPr>
            <p:cNvPr id="317" name="Google Shape;317;p33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3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3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3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3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3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3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3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Implemented      			</a:t>
            </a:r>
            <a:r>
              <a:rPr lang="en" dirty="0">
                <a:solidFill>
                  <a:schemeClr val="accent4"/>
                </a:solidFill>
              </a:rPr>
              <a:t>Algorithms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09" name="Google Shape;409;p35"/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 Algorithms </a:t>
            </a:r>
            <a:endParaRPr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Google Shape;455;p37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3224098" y="1527825"/>
                <a:ext cx="4965600" cy="3075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dirty="0"/>
                  <a:t>// All Algorithms are implemented manually</a:t>
                </a:r>
              </a:p>
              <a:p>
                <a:pPr marL="457200" lvl="0" indent="-317500" algn="l">
                  <a:spcBef>
                    <a:spcPts val="1000"/>
                  </a:spcBef>
                  <a:spcAft>
                    <a:spcPts val="0"/>
                  </a:spcAft>
                  <a:buSzPts val="1400"/>
                  <a:buChar char="●"/>
                </a:pPr>
                <a:endParaRPr lang="en-US" dirty="0">
                  <a:solidFill>
                    <a:schemeClr val="accent2"/>
                  </a:solidFill>
                </a:endParaRPr>
              </a:p>
              <a:p>
                <a:pPr marL="457200" lvl="0" indent="-317500" algn="l">
                  <a:spcBef>
                    <a:spcPts val="10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lang="en-US" dirty="0">
                    <a:solidFill>
                      <a:schemeClr val="accent2"/>
                    </a:solidFill>
                  </a:rPr>
                  <a:t>Insertion Sort ---&gt;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SA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S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ar-SA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)</a:t>
                </a:r>
                <a:endParaRPr lang="ar-SA" dirty="0"/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Char char="●"/>
                </a:pPr>
                <a:r>
                  <a:rPr lang="en-US" dirty="0">
                    <a:solidFill>
                      <a:schemeClr val="dk2"/>
                    </a:solidFill>
                  </a:rPr>
                  <a:t>Merge Sort -</a:t>
                </a:r>
                <a:r>
                  <a:rPr lang="en-US" dirty="0">
                    <a:solidFill>
                      <a:schemeClr val="dk2"/>
                    </a:solidFill>
                    <a:sym typeface="Wingdings" panose="05000000000000000000" pitchFamily="2" charset="2"/>
                  </a:rPr>
                  <a:t>--&gt; O( n log n )</a:t>
                </a:r>
                <a:endParaRPr lang="en-US" dirty="0">
                  <a:solidFill>
                    <a:schemeClr val="dk2"/>
                  </a:solidFill>
                </a:endParaRPr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Char char="●"/>
                </a:pPr>
                <a:r>
                  <a:rPr lang="en-US" dirty="0">
                    <a:solidFill>
                      <a:schemeClr val="accent5"/>
                    </a:solidFill>
                  </a:rPr>
                  <a:t>Heap Sort -</a:t>
                </a:r>
                <a:r>
                  <a:rPr lang="en-US" dirty="0">
                    <a:solidFill>
                      <a:schemeClr val="accent5"/>
                    </a:solidFill>
                    <a:sym typeface="Wingdings" panose="05000000000000000000" pitchFamily="2" charset="2"/>
                  </a:rPr>
                  <a:t>--&gt; O( n log n )</a:t>
                </a:r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Char char="●"/>
                </a:pPr>
                <a:r>
                  <a:rPr lang="en-US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Quick Sort ---&gt; avg  O( n log n )</a:t>
                </a:r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Char char="●"/>
                </a:pPr>
                <a:r>
                  <a:rPr lang="en-US" dirty="0">
                    <a:solidFill>
                      <a:schemeClr val="accent1"/>
                    </a:solidFill>
                    <a:sym typeface="Wingdings" panose="05000000000000000000" pitchFamily="2" charset="2"/>
                  </a:rPr>
                  <a:t>Randomized Quick Sort ---&gt; 3 Way      					Partition 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Char char="●"/>
                </a:pPr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55" name="Google Shape;455;p3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224098" y="1527825"/>
                <a:ext cx="4965600" cy="3075000"/>
              </a:xfrm>
              <a:prstGeom prst="rect">
                <a:avLst/>
              </a:prstGeom>
              <a:blipFill>
                <a:blip r:embed="rId3"/>
                <a:stretch>
                  <a:fillRect l="-245"/>
                </a:stretch>
              </a:blip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6" name="Google Shape;456;p37"/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/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37"/>
          <p:cNvSpPr txBox="1"/>
          <p:nvPr/>
        </p:nvSpPr>
        <p:spPr>
          <a:xfrm>
            <a:off x="8277725" y="1337250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57113431-9126-EAB2-A427-34BE4629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B6DC80AE-1114-5D41-5D55-30AA1520D9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Randomized       			</a:t>
            </a:r>
            <a:r>
              <a:rPr lang="en" dirty="0">
                <a:solidFill>
                  <a:schemeClr val="accent4"/>
                </a:solidFill>
              </a:rPr>
              <a:t>Quick Sort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6C6EB81F-9788-9302-7E9E-21DD01D49D6A}"/>
              </a:ext>
            </a:extLst>
          </p:cNvPr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3FBE13E1-FF0C-C3C9-1C01-790BAB342E16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623120CF-1ED4-2646-ECE9-D21EE986B362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3E289F72-8181-2EBA-CE70-7F70392ED3AA}"/>
              </a:ext>
            </a:extLst>
          </p:cNvPr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0F2DC0A7-16C7-3734-9D5C-939E8F2B0B7E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E98E8C3F-E77B-FA0A-93CF-E494AE9E5F41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A3FD3C37-814D-7161-B901-2F4015B8832E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DF657FF6-0837-A5DE-1D8B-904FAC8BA443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8566669A-6A28-7B94-6D12-8E56D9E23F2D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17D10355-6269-C893-6EEA-1EB8B5DF0A30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8008F1A5-FA10-FB98-074B-45A75FD72462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D00669A7-1EF1-B0B0-F5A7-1790754C2132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FC86B635-617F-A04A-9075-BC7CFFF40A10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E63F0A3B-C939-676B-882E-4AF96AED81BF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BEB5EB16-E9C5-6783-0118-CD937380FF0A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5F2A16A3-2FC6-BC2F-35B7-4A74C472C500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11E28FDA-36DD-FB81-0AD3-6A94019AB6AF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261E8837-E472-26A3-A7D1-150B56D97C4E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8200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Randomized </a:t>
            </a:r>
            <a:r>
              <a:rPr lang="en" dirty="0"/>
              <a:t> </a:t>
            </a:r>
            <a:r>
              <a:rPr lang="en" dirty="0">
                <a:solidFill>
                  <a:schemeClr val="accent4"/>
                </a:solidFill>
              </a:rPr>
              <a:t>Quick Sort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524" name="Google Shape;524;p39"/>
          <p:cNvSpPr txBox="1">
            <a:spLocks noGrp="1"/>
          </p:cNvSpPr>
          <p:nvPr>
            <p:ph type="subTitle" idx="1"/>
          </p:nvPr>
        </p:nvSpPr>
        <p:spPr>
          <a:xfrm>
            <a:off x="860156" y="2061409"/>
            <a:ext cx="2373000" cy="1784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Choosing the pivot randomly instead of having it be fixed prevents the algorithm from being affected by the order of the data.</a:t>
            </a:r>
            <a:endParaRPr sz="1200" dirty="0"/>
          </a:p>
        </p:txBody>
      </p:sp>
      <p:sp>
        <p:nvSpPr>
          <p:cNvPr id="525" name="Google Shape;525;p39"/>
          <p:cNvSpPr txBox="1">
            <a:spLocks noGrp="1"/>
          </p:cNvSpPr>
          <p:nvPr>
            <p:ph type="subTitle" idx="2"/>
          </p:nvPr>
        </p:nvSpPr>
        <p:spPr>
          <a:xfrm>
            <a:off x="3522987" y="2756375"/>
            <a:ext cx="2373000" cy="15910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In a normal Quick Sort, if the data is sorted, we can reach a complexity of O(n²), but by using a random pivot we reduce this probability.</a:t>
            </a:r>
            <a:endParaRPr sz="1200" dirty="0"/>
          </a:p>
        </p:txBody>
      </p:sp>
      <p:sp>
        <p:nvSpPr>
          <p:cNvPr id="526" name="Google Shape;526;p39"/>
          <p:cNvSpPr txBox="1">
            <a:spLocks noGrp="1"/>
          </p:cNvSpPr>
          <p:nvPr>
            <p:ph type="subTitle" idx="3"/>
          </p:nvPr>
        </p:nvSpPr>
        <p:spPr>
          <a:xfrm>
            <a:off x="6051233" y="3242600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Overall performance remains close to O(n log n) even with different data types.</a:t>
            </a:r>
            <a:endParaRPr lang="ar-SA" sz="1200" dirty="0"/>
          </a:p>
          <a:p>
            <a:pPr marL="0" lvl="0" indent="0"/>
            <a:endParaRPr lang="ar-SA" sz="1200" dirty="0"/>
          </a:p>
          <a:p>
            <a:pPr marL="0" lvl="0" indent="0"/>
            <a:endParaRPr lang="ar-SA" sz="1200" dirty="0"/>
          </a:p>
          <a:p>
            <a:pPr marL="0" lvl="0" indent="0"/>
            <a:endParaRPr sz="1200" dirty="0"/>
          </a:p>
        </p:txBody>
      </p:sp>
      <p:sp>
        <p:nvSpPr>
          <p:cNvPr id="527" name="Google Shape;527;p39"/>
          <p:cNvSpPr txBox="1">
            <a:spLocks noGrp="1"/>
          </p:cNvSpPr>
          <p:nvPr>
            <p:ph type="subTitle" idx="4"/>
          </p:nvPr>
        </p:nvSpPr>
        <p:spPr>
          <a:xfrm>
            <a:off x="922911" y="140365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dirty="0"/>
              <a:t>Random pivot </a:t>
            </a:r>
            <a:r>
              <a:rPr lang="ar-EG" sz="1600" dirty="0"/>
              <a:t> </a:t>
            </a:r>
            <a:r>
              <a:rPr lang="en-US" sz="1600" dirty="0"/>
              <a:t>selection</a:t>
            </a:r>
            <a:endParaRPr sz="1600" dirty="0"/>
          </a:p>
        </p:txBody>
      </p:sp>
      <p:sp>
        <p:nvSpPr>
          <p:cNvPr id="528" name="Google Shape;528;p39"/>
          <p:cNvSpPr txBox="1">
            <a:spLocks noGrp="1"/>
          </p:cNvSpPr>
          <p:nvPr>
            <p:ph type="subTitle" idx="5"/>
          </p:nvPr>
        </p:nvSpPr>
        <p:spPr>
          <a:xfrm>
            <a:off x="3292047" y="209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dirty="0"/>
              <a:t>Avoids worst-case</a:t>
            </a:r>
            <a:endParaRPr sz="1800" dirty="0"/>
          </a:p>
        </p:txBody>
      </p:sp>
      <p:sp>
        <p:nvSpPr>
          <p:cNvPr id="529" name="Google Shape;529;p39"/>
          <p:cNvSpPr txBox="1">
            <a:spLocks noGrp="1"/>
          </p:cNvSpPr>
          <p:nvPr>
            <p:ph type="subTitle" idx="6"/>
          </p:nvPr>
        </p:nvSpPr>
        <p:spPr>
          <a:xfrm>
            <a:off x="5867044" y="2582600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dirty="0"/>
              <a:t>Improves average performance</a:t>
            </a:r>
            <a:endParaRPr sz="1600" dirty="0"/>
          </a:p>
        </p:txBody>
      </p:sp>
      <p:grpSp>
        <p:nvGrpSpPr>
          <p:cNvPr id="530" name="Google Shape;530;p39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531" name="Google Shape;531;p39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39"/>
          <p:cNvSpPr txBox="1"/>
          <p:nvPr/>
        </p:nvSpPr>
        <p:spPr>
          <a:xfrm>
            <a:off x="6983275" y="130146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2" name="Google Shape;502;p38">
            <a:extLst>
              <a:ext uri="{FF2B5EF4-FFF2-40B4-BE49-F238E27FC236}">
                <a16:creationId xmlns:a16="http://schemas.microsoft.com/office/drawing/2014/main" id="{981C8ACF-B170-D3BF-C2A9-4D9880C6950D}"/>
              </a:ext>
            </a:extLst>
          </p:cNvPr>
          <p:cNvSpPr txBox="1"/>
          <p:nvPr/>
        </p:nvSpPr>
        <p:spPr>
          <a:xfrm>
            <a:off x="161489" y="1076287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rgbClr val="C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" name="Google Shape;502;p38">
            <a:extLst>
              <a:ext uri="{FF2B5EF4-FFF2-40B4-BE49-F238E27FC236}">
                <a16:creationId xmlns:a16="http://schemas.microsoft.com/office/drawing/2014/main" id="{175DF00D-E6E9-B128-C5F7-143D5C820A47}"/>
              </a:ext>
            </a:extLst>
          </p:cNvPr>
          <p:cNvSpPr txBox="1"/>
          <p:nvPr/>
        </p:nvSpPr>
        <p:spPr>
          <a:xfrm>
            <a:off x="3522987" y="4583362"/>
            <a:ext cx="5945678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00" dirty="0">
                <a:solidFill>
                  <a:srgbClr val="BD64B5"/>
                </a:solidFill>
              </a:rPr>
              <a:t>"That's why we chose Randomized Quick Sort in our implementation."</a:t>
            </a:r>
          </a:p>
        </p:txBody>
      </p:sp>
      <p:sp>
        <p:nvSpPr>
          <p:cNvPr id="6" name="Google Shape;503;p38">
            <a:extLst>
              <a:ext uri="{FF2B5EF4-FFF2-40B4-BE49-F238E27FC236}">
                <a16:creationId xmlns:a16="http://schemas.microsoft.com/office/drawing/2014/main" id="{1DF6C04C-143E-EF0F-3DBE-F48CEB92C344}"/>
              </a:ext>
            </a:extLst>
          </p:cNvPr>
          <p:cNvSpPr txBox="1"/>
          <p:nvPr/>
        </p:nvSpPr>
        <p:spPr>
          <a:xfrm>
            <a:off x="8534311" y="37122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EAC3C577-C2B6-9271-7141-1B243B69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EB1E9725-56B2-3EE2-0FD0-AE7DCCC7D4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3 - Way        				</a:t>
            </a:r>
            <a:r>
              <a:rPr lang="en" dirty="0">
                <a:solidFill>
                  <a:schemeClr val="accent4"/>
                </a:solidFill>
              </a:rPr>
              <a:t>Partitioning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6A79A4BE-63F8-EDE5-5CE6-14287CA0B483}"/>
              </a:ext>
            </a:extLst>
          </p:cNvPr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4C5FEAB5-0934-1080-71CB-39FE74E92747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B1C0433B-7BDA-CC59-D3CE-BF632FECA6FF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1E869FCE-9DEC-9CEC-8FDC-B0352E68043A}"/>
              </a:ext>
            </a:extLst>
          </p:cNvPr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A2068CB9-6AD1-8013-A59B-0FA2D1E0548C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C6294014-41E9-4694-3E6B-CE08AA849CBB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562A975A-6B25-E4ED-28D5-DDAD174DACD9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C11CE388-9E9A-5DC9-D972-A7281B8A2A0A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AF4D334C-E964-A173-1845-38E71873C678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5CC62616-C744-3B59-5814-5889C6BF96F2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73AA38D2-92F3-09C8-1248-10CCB22397CA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2C1C4B77-5198-1421-4B68-5CBC29D50253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2E40E6A4-1E5B-57DB-F6DE-8284A58C27FC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7295E1C8-DB15-179D-6436-494C1726DB14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41EE433F-B9F1-EE1E-33EE-193EE9F73974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9EC8D7C7-A498-7AFE-A19E-55757AE2553C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289B046C-409E-72C0-F218-A73A10F94CC9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D2A50606-EA0A-02DC-485A-877B88F0222E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2241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C4CB435E-C492-2F06-C43D-DEDC9421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>
            <a:extLst>
              <a:ext uri="{FF2B5EF4-FFF2-40B4-BE49-F238E27FC236}">
                <a16:creationId xmlns:a16="http://schemas.microsoft.com/office/drawing/2014/main" id="{5296FB8C-C7F2-BB06-78FE-4F2529794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 – Ways  </a:t>
            </a:r>
            <a:r>
              <a:rPr lang="en" dirty="0"/>
              <a:t> </a:t>
            </a:r>
            <a:r>
              <a:rPr lang="en" dirty="0">
                <a:solidFill>
                  <a:schemeClr val="accent4"/>
                </a:solidFill>
              </a:rPr>
              <a:t>Partitioning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524" name="Google Shape;524;p39">
            <a:extLst>
              <a:ext uri="{FF2B5EF4-FFF2-40B4-BE49-F238E27FC236}">
                <a16:creationId xmlns:a16="http://schemas.microsoft.com/office/drawing/2014/main" id="{03631936-A8AA-8392-D83C-E629F3D058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317015"/>
            <a:ext cx="6263275" cy="5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  //    The Array  was divided into three parts</a:t>
            </a:r>
            <a:endParaRPr dirty="0"/>
          </a:p>
        </p:txBody>
      </p:sp>
      <p:sp>
        <p:nvSpPr>
          <p:cNvPr id="526" name="Google Shape;526;p39">
            <a:extLst>
              <a:ext uri="{FF2B5EF4-FFF2-40B4-BE49-F238E27FC236}">
                <a16:creationId xmlns:a16="http://schemas.microsoft.com/office/drawing/2014/main" id="{46781CE5-811F-363B-DA54-90A42F4AD8A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955225" y="3886457"/>
            <a:ext cx="5546320" cy="5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//   This Way is effective with duplicate values.</a:t>
            </a:r>
            <a:endParaRPr dirty="0"/>
          </a:p>
        </p:txBody>
      </p:sp>
      <p:sp>
        <p:nvSpPr>
          <p:cNvPr id="527" name="Google Shape;527;p39">
            <a:extLst>
              <a:ext uri="{FF2B5EF4-FFF2-40B4-BE49-F238E27FC236}">
                <a16:creationId xmlns:a16="http://schemas.microsoft.com/office/drawing/2014/main" id="{44CC5F4A-DE3B-50BD-8BBC-8923EA0A240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43456" y="1875749"/>
            <a:ext cx="2373001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dirty="0"/>
              <a:t>Less Than </a:t>
            </a:r>
            <a:r>
              <a:rPr lang="en-US" sz="1600" dirty="0" err="1"/>
              <a:t>Povit</a:t>
            </a:r>
            <a:r>
              <a:rPr lang="en-US" sz="1600" dirty="0"/>
              <a:t> </a:t>
            </a:r>
            <a:endParaRPr sz="1600" dirty="0"/>
          </a:p>
        </p:txBody>
      </p:sp>
      <p:sp>
        <p:nvSpPr>
          <p:cNvPr id="528" name="Google Shape;528;p39">
            <a:extLst>
              <a:ext uri="{FF2B5EF4-FFF2-40B4-BE49-F238E27FC236}">
                <a16:creationId xmlns:a16="http://schemas.microsoft.com/office/drawing/2014/main" id="{A5A9481E-E680-E247-8FB7-004BA1C085B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11585" y="2418747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dirty="0"/>
              <a:t>Equal To </a:t>
            </a:r>
            <a:r>
              <a:rPr lang="en-US" sz="1800" dirty="0" err="1"/>
              <a:t>Povit</a:t>
            </a:r>
            <a:r>
              <a:rPr lang="en-US" sz="1800" dirty="0"/>
              <a:t> </a:t>
            </a:r>
            <a:endParaRPr sz="1800" dirty="0"/>
          </a:p>
        </p:txBody>
      </p:sp>
      <p:sp>
        <p:nvSpPr>
          <p:cNvPr id="529" name="Google Shape;529;p39">
            <a:extLst>
              <a:ext uri="{FF2B5EF4-FFF2-40B4-BE49-F238E27FC236}">
                <a16:creationId xmlns:a16="http://schemas.microsoft.com/office/drawing/2014/main" id="{1F2A4B95-ADCE-005B-4B38-8F0E0076AEA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562244" y="3040867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dirty="0"/>
              <a:t>Greater Than </a:t>
            </a:r>
            <a:r>
              <a:rPr lang="en-US" sz="1600" dirty="0" err="1"/>
              <a:t>Povit</a:t>
            </a:r>
            <a:r>
              <a:rPr lang="en-US" sz="1600" dirty="0"/>
              <a:t> </a:t>
            </a:r>
            <a:endParaRPr sz="1600" dirty="0"/>
          </a:p>
        </p:txBody>
      </p:sp>
      <p:grpSp>
        <p:nvGrpSpPr>
          <p:cNvPr id="530" name="Google Shape;530;p39">
            <a:extLst>
              <a:ext uri="{FF2B5EF4-FFF2-40B4-BE49-F238E27FC236}">
                <a16:creationId xmlns:a16="http://schemas.microsoft.com/office/drawing/2014/main" id="{6AB8D892-BFDF-373C-719B-CC4D8F7782A0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906411EB-66A3-678B-685C-1B3C8681FFD7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9">
              <a:extLst>
                <a:ext uri="{FF2B5EF4-FFF2-40B4-BE49-F238E27FC236}">
                  <a16:creationId xmlns:a16="http://schemas.microsoft.com/office/drawing/2014/main" id="{A383D286-E6E9-86A9-0A83-B8A499611848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>
              <a:extLst>
                <a:ext uri="{FF2B5EF4-FFF2-40B4-BE49-F238E27FC236}">
                  <a16:creationId xmlns:a16="http://schemas.microsoft.com/office/drawing/2014/main" id="{5A010056-9864-62F6-8C2F-B984788083E3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>
              <a:extLst>
                <a:ext uri="{FF2B5EF4-FFF2-40B4-BE49-F238E27FC236}">
                  <a16:creationId xmlns:a16="http://schemas.microsoft.com/office/drawing/2014/main" id="{78AEC3EB-0F06-0DA0-AB87-D4F2799C0AD9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>
              <a:extLst>
                <a:ext uri="{FF2B5EF4-FFF2-40B4-BE49-F238E27FC236}">
                  <a16:creationId xmlns:a16="http://schemas.microsoft.com/office/drawing/2014/main" id="{90B14C3D-3FAC-C2D6-5428-030D1330DA56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>
              <a:extLst>
                <a:ext uri="{FF2B5EF4-FFF2-40B4-BE49-F238E27FC236}">
                  <a16:creationId xmlns:a16="http://schemas.microsoft.com/office/drawing/2014/main" id="{094CE25C-0ADD-0CA3-758D-73F02B70AA3D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>
              <a:extLst>
                <a:ext uri="{FF2B5EF4-FFF2-40B4-BE49-F238E27FC236}">
                  <a16:creationId xmlns:a16="http://schemas.microsoft.com/office/drawing/2014/main" id="{D8050C42-D6E5-251E-B9C3-DBC43FFCC1DA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>
              <a:extLst>
                <a:ext uri="{FF2B5EF4-FFF2-40B4-BE49-F238E27FC236}">
                  <a16:creationId xmlns:a16="http://schemas.microsoft.com/office/drawing/2014/main" id="{6FE3CD58-FF2D-0F33-CA07-A016405ECD55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>
              <a:extLst>
                <a:ext uri="{FF2B5EF4-FFF2-40B4-BE49-F238E27FC236}">
                  <a16:creationId xmlns:a16="http://schemas.microsoft.com/office/drawing/2014/main" id="{829B121A-DB66-4C3E-A290-B2E9DDD1D795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>
              <a:extLst>
                <a:ext uri="{FF2B5EF4-FFF2-40B4-BE49-F238E27FC236}">
                  <a16:creationId xmlns:a16="http://schemas.microsoft.com/office/drawing/2014/main" id="{53E4036D-7A15-4449-1028-B913F4ED7847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>
              <a:extLst>
                <a:ext uri="{FF2B5EF4-FFF2-40B4-BE49-F238E27FC236}">
                  <a16:creationId xmlns:a16="http://schemas.microsoft.com/office/drawing/2014/main" id="{B62E83D5-DA6C-3E0A-B12F-D98F8E3A9C9D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>
              <a:extLst>
                <a:ext uri="{FF2B5EF4-FFF2-40B4-BE49-F238E27FC236}">
                  <a16:creationId xmlns:a16="http://schemas.microsoft.com/office/drawing/2014/main" id="{C78D0635-44FD-B789-AF8F-3DEFAAF4E838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>
              <a:extLst>
                <a:ext uri="{FF2B5EF4-FFF2-40B4-BE49-F238E27FC236}">
                  <a16:creationId xmlns:a16="http://schemas.microsoft.com/office/drawing/2014/main" id="{2FBE6804-22A9-018D-895A-C45C3A6F5B73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39">
            <a:extLst>
              <a:ext uri="{FF2B5EF4-FFF2-40B4-BE49-F238E27FC236}">
                <a16:creationId xmlns:a16="http://schemas.microsoft.com/office/drawing/2014/main" id="{2D474A4A-AF7D-1CBB-5A7B-B24C63133CD1}"/>
              </a:ext>
            </a:extLst>
          </p:cNvPr>
          <p:cNvSpPr txBox="1"/>
          <p:nvPr/>
        </p:nvSpPr>
        <p:spPr>
          <a:xfrm>
            <a:off x="6983275" y="130146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2" name="Google Shape;502;p38">
            <a:extLst>
              <a:ext uri="{FF2B5EF4-FFF2-40B4-BE49-F238E27FC236}">
                <a16:creationId xmlns:a16="http://schemas.microsoft.com/office/drawing/2014/main" id="{A57DCB61-A4C5-A040-1266-6159D12D42DF}"/>
              </a:ext>
            </a:extLst>
          </p:cNvPr>
          <p:cNvSpPr txBox="1"/>
          <p:nvPr/>
        </p:nvSpPr>
        <p:spPr>
          <a:xfrm>
            <a:off x="161489" y="1076287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rgbClr val="C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" name="Google Shape;503;p38">
            <a:extLst>
              <a:ext uri="{FF2B5EF4-FFF2-40B4-BE49-F238E27FC236}">
                <a16:creationId xmlns:a16="http://schemas.microsoft.com/office/drawing/2014/main" id="{AB5C732C-8A68-44AE-415A-DA7B8F957C21}"/>
              </a:ext>
            </a:extLst>
          </p:cNvPr>
          <p:cNvSpPr txBox="1"/>
          <p:nvPr/>
        </p:nvSpPr>
        <p:spPr>
          <a:xfrm>
            <a:off x="8534311" y="37122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832520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D908A871-61B8-6ECE-69E7-3E5256A3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5AF40A94-1530-C197-74B6-02AAE8DC94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75000"/>
                  </a:schemeClr>
                </a:solidFill>
              </a:rPr>
              <a:t>	Dataset</a:t>
            </a:r>
            <a:r>
              <a:rPr lang="en" dirty="0"/>
              <a:t> 							</a:t>
            </a:r>
            <a:r>
              <a:rPr lang="en" dirty="0">
                <a:solidFill>
                  <a:schemeClr val="tx1"/>
                </a:solidFill>
              </a:rPr>
              <a:t>Types</a:t>
            </a:r>
            <a:r>
              <a:rPr lang="en" dirty="0">
                <a:solidFill>
                  <a:schemeClr val="accent4"/>
                </a:solidFill>
              </a:rPr>
              <a:t>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A0A7E504-CA41-3C0C-4AE3-640928013A14}"/>
              </a:ext>
            </a:extLst>
          </p:cNvPr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AAD5B06E-FC82-99FF-C45A-BD8D015A3E09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FE989311-A15B-EDBD-569F-C5DCEBE857C9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D6C28D7C-05F2-71DB-CE2D-7BADB22923EA}"/>
              </a:ext>
            </a:extLst>
          </p:cNvPr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13E87BEC-C9AF-1525-9B4D-023A69D4F51F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4B42FAB6-515F-596B-5D19-99C060B10C00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DD29CC45-6BC5-585D-A4F1-C390384A21EF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ED4540CB-2252-5885-CC30-0E9A323EF008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50F476AC-E59D-C4F6-972D-2792F526ACF9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3E79BE89-FFBC-BA74-C52C-0F97B6FADE29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79CBA983-1200-9FB6-F3FB-407744A6A883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D612A22A-7773-E07E-1E9A-EF7E4249A88B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8252FFB1-F115-253C-B436-3C3A39BBE820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037B3FE9-B9D6-27FD-F2FA-69657F4DC561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7397D932-2B9A-00BF-2844-DF568860B0A5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C7448889-C3E3-1EF2-BB19-AFC070DD7FFD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ED9B6883-3988-9DB8-EC0A-CB0B865E6282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FA799A48-9778-EAB5-397C-D7A791015124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1490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</a:t>
            </a:r>
            <a:r>
              <a:rPr lang="en" dirty="0">
                <a:solidFill>
                  <a:schemeClr val="accent3"/>
                </a:solidFill>
              </a:rPr>
              <a:t>Types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93" name="Google Shape;593;p41"/>
          <p:cNvSpPr txBox="1">
            <a:spLocks noGrp="1"/>
          </p:cNvSpPr>
          <p:nvPr>
            <p:ph type="subTitle" idx="5"/>
          </p:nvPr>
        </p:nvSpPr>
        <p:spPr>
          <a:xfrm>
            <a:off x="2971650" y="1836383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/>
              <a:t>Random Data</a:t>
            </a:r>
            <a:endParaRPr sz="2000" dirty="0"/>
          </a:p>
        </p:txBody>
      </p:sp>
      <p:sp>
        <p:nvSpPr>
          <p:cNvPr id="594" name="Google Shape;594;p41"/>
          <p:cNvSpPr txBox="1">
            <a:spLocks noGrp="1"/>
          </p:cNvSpPr>
          <p:nvPr>
            <p:ph type="subTitle" idx="6"/>
          </p:nvPr>
        </p:nvSpPr>
        <p:spPr>
          <a:xfrm>
            <a:off x="2660178" y="2965628"/>
            <a:ext cx="3111938" cy="6011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/>
              <a:t>Reverse Sorted Data</a:t>
            </a:r>
            <a:endParaRPr sz="2000" dirty="0"/>
          </a:p>
        </p:txBody>
      </p:sp>
      <p:sp>
        <p:nvSpPr>
          <p:cNvPr id="595" name="Google Shape;595;p41"/>
          <p:cNvSpPr txBox="1">
            <a:spLocks noGrp="1"/>
          </p:cNvSpPr>
          <p:nvPr>
            <p:ph type="subTitle" idx="7"/>
          </p:nvPr>
        </p:nvSpPr>
        <p:spPr>
          <a:xfrm>
            <a:off x="5977531" y="1836383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/>
              <a:t>Sorted Data</a:t>
            </a:r>
            <a:endParaRPr sz="2000" dirty="0"/>
          </a:p>
        </p:txBody>
      </p:sp>
      <p:sp>
        <p:nvSpPr>
          <p:cNvPr id="596" name="Google Shape;596;p41"/>
          <p:cNvSpPr txBox="1">
            <a:spLocks noGrp="1"/>
          </p:cNvSpPr>
          <p:nvPr>
            <p:ph type="subTitle" idx="8"/>
          </p:nvPr>
        </p:nvSpPr>
        <p:spPr>
          <a:xfrm>
            <a:off x="6125096" y="2965628"/>
            <a:ext cx="3018904" cy="7821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/>
              <a:t>Reverse Sorted Data</a:t>
            </a:r>
            <a:endParaRPr sz="2000" dirty="0"/>
          </a:p>
        </p:txBody>
      </p:sp>
      <p:grpSp>
        <p:nvGrpSpPr>
          <p:cNvPr id="597" name="Google Shape;597;p41"/>
          <p:cNvGrpSpPr/>
          <p:nvPr/>
        </p:nvGrpSpPr>
        <p:grpSpPr>
          <a:xfrm>
            <a:off x="394008" y="1479426"/>
            <a:ext cx="2041216" cy="2884728"/>
            <a:chOff x="719992" y="1135488"/>
            <a:chExt cx="2415354" cy="3413475"/>
          </a:xfrm>
        </p:grpSpPr>
        <p:sp>
          <p:nvSpPr>
            <p:cNvPr id="598" name="Google Shape;598;p41"/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1"/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1"/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1"/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1"/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1"/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1"/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1"/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1"/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1"/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1"/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1"/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1"/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1"/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1"/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1"/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1"/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1"/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1"/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EDB035C4-82DA-8639-D369-900C90C1F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F6F8560F-2F4C-8A30-18BA-96332C8FA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75000"/>
                  </a:schemeClr>
                </a:solidFill>
              </a:rPr>
              <a:t>	Dataset</a:t>
            </a:r>
            <a:r>
              <a:rPr lang="en" dirty="0"/>
              <a:t> 							</a:t>
            </a:r>
            <a:r>
              <a:rPr lang="en" dirty="0">
                <a:solidFill>
                  <a:schemeClr val="tx1"/>
                </a:solidFill>
              </a:rPr>
              <a:t>Size</a:t>
            </a:r>
            <a:r>
              <a:rPr lang="en" dirty="0">
                <a:solidFill>
                  <a:schemeClr val="accent4"/>
                </a:solidFill>
              </a:rPr>
              <a:t>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2C03A17C-CAAD-9D45-3593-3470359FBB27}"/>
              </a:ext>
            </a:extLst>
          </p:cNvPr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F6053183-BCD0-CCB6-F3CC-1A0BEAD0A76D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275D4539-0987-0FC5-262D-2D347EBA96CE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E7BAC164-E858-3CA2-C3D6-66D4893EB5EA}"/>
              </a:ext>
            </a:extLst>
          </p:cNvPr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44F9FC2C-ECE6-F439-B834-6A12FD7F8A11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9A403F62-83D4-E9C2-5ADF-84854C8C98E8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EA312172-4CE3-4FB6-BB88-8F9E26715D43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9A704D0D-A605-76C5-E3F1-E11C3838FF85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A4E58E6D-5B7D-57DD-82EB-D7F5F5B6384B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930976A2-7811-BD27-A06D-32B643B3EB63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480D9ABF-F9D1-4986-4AD2-F70CF40B4B6F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5A7BCE2C-D90E-B0C6-59BC-12E04E3AF53F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53C1E6E5-3D49-1840-6572-38DA6FB00EAA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27BB355B-A718-3939-B185-C4B174742EEF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4E8F5284-99C5-B29B-F99E-22A2B1803C05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E2A7C577-9180-CD08-A48B-E2B72F48A3B4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51861C81-BE50-B7D3-F351-759B5584ABF9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91C495F8-BC6C-AE20-58CB-D2F1BDA5B043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62574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>
          <a:extLst>
            <a:ext uri="{FF2B5EF4-FFF2-40B4-BE49-F238E27FC236}">
              <a16:creationId xmlns:a16="http://schemas.microsoft.com/office/drawing/2014/main" id="{D2975E17-23C6-71D2-45DA-5BE758E01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1">
            <a:extLst>
              <a:ext uri="{FF2B5EF4-FFF2-40B4-BE49-F238E27FC236}">
                <a16:creationId xmlns:a16="http://schemas.microsoft.com/office/drawing/2014/main" id="{015249A2-5393-DA27-6863-190F40FDA9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</a:t>
            </a:r>
            <a:r>
              <a:rPr lang="en" dirty="0">
                <a:solidFill>
                  <a:schemeClr val="accent3"/>
                </a:solidFill>
              </a:rPr>
              <a:t>Size 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93" name="Google Shape;593;p41">
            <a:extLst>
              <a:ext uri="{FF2B5EF4-FFF2-40B4-BE49-F238E27FC236}">
                <a16:creationId xmlns:a16="http://schemas.microsoft.com/office/drawing/2014/main" id="{270F2C35-D544-84A3-B224-864FE7F2B9AA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971650" y="1836383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>
                <a:solidFill>
                  <a:srgbClr val="00B0F0"/>
                </a:solidFill>
              </a:rPr>
              <a:t>1000 Elements</a:t>
            </a:r>
            <a:endParaRPr sz="2000" dirty="0">
              <a:solidFill>
                <a:srgbClr val="00B0F0"/>
              </a:solidFill>
            </a:endParaRPr>
          </a:p>
        </p:txBody>
      </p:sp>
      <p:sp>
        <p:nvSpPr>
          <p:cNvPr id="594" name="Google Shape;594;p41">
            <a:extLst>
              <a:ext uri="{FF2B5EF4-FFF2-40B4-BE49-F238E27FC236}">
                <a16:creationId xmlns:a16="http://schemas.microsoft.com/office/drawing/2014/main" id="{7A013991-97AB-2D5B-C8F7-A04D01171A7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968075" y="3056153"/>
            <a:ext cx="3111938" cy="6011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50,000 </a:t>
            </a:r>
          </a:p>
          <a:p>
            <a:pPr marL="0" lvl="0" indent="0"/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Elements </a:t>
            </a:r>
            <a:endParaRPr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95" name="Google Shape;595;p41">
            <a:extLst>
              <a:ext uri="{FF2B5EF4-FFF2-40B4-BE49-F238E27FC236}">
                <a16:creationId xmlns:a16="http://schemas.microsoft.com/office/drawing/2014/main" id="{7115931E-A366-E0E3-5D73-3A590CF5E606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977531" y="1836383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10,000 Elements </a:t>
            </a:r>
            <a:endParaRPr sz="20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96" name="Google Shape;596;p41">
            <a:extLst>
              <a:ext uri="{FF2B5EF4-FFF2-40B4-BE49-F238E27FC236}">
                <a16:creationId xmlns:a16="http://schemas.microsoft.com/office/drawing/2014/main" id="{75BED14C-9B56-08B0-7845-B4EF46A70BF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977531" y="2962907"/>
            <a:ext cx="3018904" cy="7821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>
                <a:solidFill>
                  <a:schemeClr val="accent1"/>
                </a:solidFill>
              </a:rPr>
              <a:t>100,000 </a:t>
            </a:r>
          </a:p>
          <a:p>
            <a:pPr marL="0" lvl="0" indent="0"/>
            <a:r>
              <a:rPr lang="en-US" sz="2000" dirty="0">
                <a:solidFill>
                  <a:schemeClr val="accent1"/>
                </a:solidFill>
              </a:rPr>
              <a:t>Elements </a:t>
            </a:r>
            <a:endParaRPr sz="2000" dirty="0">
              <a:solidFill>
                <a:schemeClr val="accent1"/>
              </a:solidFill>
            </a:endParaRPr>
          </a:p>
        </p:txBody>
      </p:sp>
      <p:grpSp>
        <p:nvGrpSpPr>
          <p:cNvPr id="597" name="Google Shape;597;p41">
            <a:extLst>
              <a:ext uri="{FF2B5EF4-FFF2-40B4-BE49-F238E27FC236}">
                <a16:creationId xmlns:a16="http://schemas.microsoft.com/office/drawing/2014/main" id="{CDCA4C8A-7279-77F9-C193-A569488D7F84}"/>
              </a:ext>
            </a:extLst>
          </p:cNvPr>
          <p:cNvGrpSpPr/>
          <p:nvPr/>
        </p:nvGrpSpPr>
        <p:grpSpPr>
          <a:xfrm>
            <a:off x="394008" y="1479426"/>
            <a:ext cx="2041216" cy="2884728"/>
            <a:chOff x="719992" y="1135488"/>
            <a:chExt cx="2415354" cy="3413475"/>
          </a:xfrm>
        </p:grpSpPr>
        <p:sp>
          <p:nvSpPr>
            <p:cNvPr id="598" name="Google Shape;598;p41">
              <a:extLst>
                <a:ext uri="{FF2B5EF4-FFF2-40B4-BE49-F238E27FC236}">
                  <a16:creationId xmlns:a16="http://schemas.microsoft.com/office/drawing/2014/main" id="{9AB4DBB6-A299-17CB-CFC1-55039F616108}"/>
                </a:ext>
              </a:extLst>
            </p:cNvPr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1">
              <a:extLst>
                <a:ext uri="{FF2B5EF4-FFF2-40B4-BE49-F238E27FC236}">
                  <a16:creationId xmlns:a16="http://schemas.microsoft.com/office/drawing/2014/main" id="{5F232890-335A-AB52-1A8C-8CD84E462892}"/>
                </a:ext>
              </a:extLst>
            </p:cNvPr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1">
              <a:extLst>
                <a:ext uri="{FF2B5EF4-FFF2-40B4-BE49-F238E27FC236}">
                  <a16:creationId xmlns:a16="http://schemas.microsoft.com/office/drawing/2014/main" id="{1E19E391-C3B7-3B8B-FB09-DF8B2391EDB1}"/>
                </a:ext>
              </a:extLst>
            </p:cNvPr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1">
              <a:extLst>
                <a:ext uri="{FF2B5EF4-FFF2-40B4-BE49-F238E27FC236}">
                  <a16:creationId xmlns:a16="http://schemas.microsoft.com/office/drawing/2014/main" id="{9B86FEED-41A6-B48D-82F4-3963B37DFDE1}"/>
                </a:ext>
              </a:extLst>
            </p:cNvPr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1">
              <a:extLst>
                <a:ext uri="{FF2B5EF4-FFF2-40B4-BE49-F238E27FC236}">
                  <a16:creationId xmlns:a16="http://schemas.microsoft.com/office/drawing/2014/main" id="{7A1E5628-9493-3B31-DD97-81F84A5F2A00}"/>
                </a:ext>
              </a:extLst>
            </p:cNvPr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1">
              <a:extLst>
                <a:ext uri="{FF2B5EF4-FFF2-40B4-BE49-F238E27FC236}">
                  <a16:creationId xmlns:a16="http://schemas.microsoft.com/office/drawing/2014/main" id="{9F8C810F-B9F0-9C74-1994-8558D0A6E3B0}"/>
                </a:ext>
              </a:extLst>
            </p:cNvPr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1">
              <a:extLst>
                <a:ext uri="{FF2B5EF4-FFF2-40B4-BE49-F238E27FC236}">
                  <a16:creationId xmlns:a16="http://schemas.microsoft.com/office/drawing/2014/main" id="{E3B5C61C-1BB2-158C-932A-4038D3AA9074}"/>
                </a:ext>
              </a:extLst>
            </p:cNvPr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1">
              <a:extLst>
                <a:ext uri="{FF2B5EF4-FFF2-40B4-BE49-F238E27FC236}">
                  <a16:creationId xmlns:a16="http://schemas.microsoft.com/office/drawing/2014/main" id="{0A8F975E-E24E-47A3-C5BD-F232A4EB96B3}"/>
                </a:ext>
              </a:extLst>
            </p:cNvPr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1">
              <a:extLst>
                <a:ext uri="{FF2B5EF4-FFF2-40B4-BE49-F238E27FC236}">
                  <a16:creationId xmlns:a16="http://schemas.microsoft.com/office/drawing/2014/main" id="{889C3A16-EC1D-7302-D652-840345C9E785}"/>
                </a:ext>
              </a:extLst>
            </p:cNvPr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1">
              <a:extLst>
                <a:ext uri="{FF2B5EF4-FFF2-40B4-BE49-F238E27FC236}">
                  <a16:creationId xmlns:a16="http://schemas.microsoft.com/office/drawing/2014/main" id="{465081FA-25E9-A9C0-0C96-0EF579513E27}"/>
                </a:ext>
              </a:extLst>
            </p:cNvPr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1">
              <a:extLst>
                <a:ext uri="{FF2B5EF4-FFF2-40B4-BE49-F238E27FC236}">
                  <a16:creationId xmlns:a16="http://schemas.microsoft.com/office/drawing/2014/main" id="{92DE2DBE-DB06-DDF8-867B-31A71CB80923}"/>
                </a:ext>
              </a:extLst>
            </p:cNvPr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1">
              <a:extLst>
                <a:ext uri="{FF2B5EF4-FFF2-40B4-BE49-F238E27FC236}">
                  <a16:creationId xmlns:a16="http://schemas.microsoft.com/office/drawing/2014/main" id="{6A7EA63F-C237-2A0B-5078-62A42A17A14C}"/>
                </a:ext>
              </a:extLst>
            </p:cNvPr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1">
              <a:extLst>
                <a:ext uri="{FF2B5EF4-FFF2-40B4-BE49-F238E27FC236}">
                  <a16:creationId xmlns:a16="http://schemas.microsoft.com/office/drawing/2014/main" id="{FAC565AE-F3CF-35DD-2C55-85FA936E333C}"/>
                </a:ext>
              </a:extLst>
            </p:cNvPr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1">
              <a:extLst>
                <a:ext uri="{FF2B5EF4-FFF2-40B4-BE49-F238E27FC236}">
                  <a16:creationId xmlns:a16="http://schemas.microsoft.com/office/drawing/2014/main" id="{A62E7645-A986-7000-43ED-7B51B65AD9EE}"/>
                </a:ext>
              </a:extLst>
            </p:cNvPr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1">
              <a:extLst>
                <a:ext uri="{FF2B5EF4-FFF2-40B4-BE49-F238E27FC236}">
                  <a16:creationId xmlns:a16="http://schemas.microsoft.com/office/drawing/2014/main" id="{A3E7BD30-0DAC-5115-B725-0A9C4B5485D2}"/>
                </a:ext>
              </a:extLst>
            </p:cNvPr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1">
              <a:extLst>
                <a:ext uri="{FF2B5EF4-FFF2-40B4-BE49-F238E27FC236}">
                  <a16:creationId xmlns:a16="http://schemas.microsoft.com/office/drawing/2014/main" id="{BF3AA386-0187-6EA5-FF6C-7F5F0228FCD6}"/>
                </a:ext>
              </a:extLst>
            </p:cNvPr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1">
              <a:extLst>
                <a:ext uri="{FF2B5EF4-FFF2-40B4-BE49-F238E27FC236}">
                  <a16:creationId xmlns:a16="http://schemas.microsoft.com/office/drawing/2014/main" id="{EB7945F1-81B9-6F7D-4F66-647BECFDC7DD}"/>
                </a:ext>
              </a:extLst>
            </p:cNvPr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1">
              <a:extLst>
                <a:ext uri="{FF2B5EF4-FFF2-40B4-BE49-F238E27FC236}">
                  <a16:creationId xmlns:a16="http://schemas.microsoft.com/office/drawing/2014/main" id="{082FE847-1037-8473-526F-50504D2209BA}"/>
                </a:ext>
              </a:extLst>
            </p:cNvPr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1">
              <a:extLst>
                <a:ext uri="{FF2B5EF4-FFF2-40B4-BE49-F238E27FC236}">
                  <a16:creationId xmlns:a16="http://schemas.microsoft.com/office/drawing/2014/main" id="{429861BE-17CD-7211-19F0-A8C9D3988DAC}"/>
                </a:ext>
              </a:extLst>
            </p:cNvPr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1">
              <a:extLst>
                <a:ext uri="{FF2B5EF4-FFF2-40B4-BE49-F238E27FC236}">
                  <a16:creationId xmlns:a16="http://schemas.microsoft.com/office/drawing/2014/main" id="{8333FDF8-C940-0ACD-5F8F-720E2CC91676}"/>
                </a:ext>
              </a:extLst>
            </p:cNvPr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1">
              <a:extLst>
                <a:ext uri="{FF2B5EF4-FFF2-40B4-BE49-F238E27FC236}">
                  <a16:creationId xmlns:a16="http://schemas.microsoft.com/office/drawing/2014/main" id="{67AFD1B6-4F31-8C9D-95A7-77A653B84283}"/>
                </a:ext>
              </a:extLst>
            </p:cNvPr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1">
              <a:extLst>
                <a:ext uri="{FF2B5EF4-FFF2-40B4-BE49-F238E27FC236}">
                  <a16:creationId xmlns:a16="http://schemas.microsoft.com/office/drawing/2014/main" id="{272616A1-25FF-45C1-9DB9-0A9990D4ADFF}"/>
                </a:ext>
              </a:extLst>
            </p:cNvPr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1">
              <a:extLst>
                <a:ext uri="{FF2B5EF4-FFF2-40B4-BE49-F238E27FC236}">
                  <a16:creationId xmlns:a16="http://schemas.microsoft.com/office/drawing/2014/main" id="{6B197B81-9C19-F5FA-949F-DCDAA3567B8B}"/>
                </a:ext>
              </a:extLst>
            </p:cNvPr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1">
              <a:extLst>
                <a:ext uri="{FF2B5EF4-FFF2-40B4-BE49-F238E27FC236}">
                  <a16:creationId xmlns:a16="http://schemas.microsoft.com/office/drawing/2014/main" id="{5E5822F2-E22F-5B8C-3C33-0F1E7099A582}"/>
                </a:ext>
              </a:extLst>
            </p:cNvPr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1">
              <a:extLst>
                <a:ext uri="{FF2B5EF4-FFF2-40B4-BE49-F238E27FC236}">
                  <a16:creationId xmlns:a16="http://schemas.microsoft.com/office/drawing/2014/main" id="{D4967F64-F19A-A1E7-5F68-26ECE74F8C97}"/>
                </a:ext>
              </a:extLst>
            </p:cNvPr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1">
              <a:extLst>
                <a:ext uri="{FF2B5EF4-FFF2-40B4-BE49-F238E27FC236}">
                  <a16:creationId xmlns:a16="http://schemas.microsoft.com/office/drawing/2014/main" id="{89E9E205-8871-ED84-A5AD-C545F401462C}"/>
                </a:ext>
              </a:extLst>
            </p:cNvPr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1">
              <a:extLst>
                <a:ext uri="{FF2B5EF4-FFF2-40B4-BE49-F238E27FC236}">
                  <a16:creationId xmlns:a16="http://schemas.microsoft.com/office/drawing/2014/main" id="{B7102972-B379-6097-421A-A3B1FB159144}"/>
                </a:ext>
              </a:extLst>
            </p:cNvPr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1">
              <a:extLst>
                <a:ext uri="{FF2B5EF4-FFF2-40B4-BE49-F238E27FC236}">
                  <a16:creationId xmlns:a16="http://schemas.microsoft.com/office/drawing/2014/main" id="{4B1409C4-C7C8-6966-AF66-2044210C2DA7}"/>
                </a:ext>
              </a:extLst>
            </p:cNvPr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1">
              <a:extLst>
                <a:ext uri="{FF2B5EF4-FFF2-40B4-BE49-F238E27FC236}">
                  <a16:creationId xmlns:a16="http://schemas.microsoft.com/office/drawing/2014/main" id="{8178FD60-E579-8D23-C79F-4C9CE18D4C21}"/>
                </a:ext>
              </a:extLst>
            </p:cNvPr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1">
              <a:extLst>
                <a:ext uri="{FF2B5EF4-FFF2-40B4-BE49-F238E27FC236}">
                  <a16:creationId xmlns:a16="http://schemas.microsoft.com/office/drawing/2014/main" id="{54291DFF-6D35-72B2-ED31-71204C5794F8}"/>
                </a:ext>
              </a:extLst>
            </p:cNvPr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1">
              <a:extLst>
                <a:ext uri="{FF2B5EF4-FFF2-40B4-BE49-F238E27FC236}">
                  <a16:creationId xmlns:a16="http://schemas.microsoft.com/office/drawing/2014/main" id="{D7806D06-2937-E119-7B53-060E99FB9E98}"/>
                </a:ext>
              </a:extLst>
            </p:cNvPr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1">
              <a:extLst>
                <a:ext uri="{FF2B5EF4-FFF2-40B4-BE49-F238E27FC236}">
                  <a16:creationId xmlns:a16="http://schemas.microsoft.com/office/drawing/2014/main" id="{92856F05-612F-1101-2174-704FFD7654A6}"/>
                </a:ext>
              </a:extLst>
            </p:cNvPr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1">
              <a:extLst>
                <a:ext uri="{FF2B5EF4-FFF2-40B4-BE49-F238E27FC236}">
                  <a16:creationId xmlns:a16="http://schemas.microsoft.com/office/drawing/2014/main" id="{A39F8538-B9C3-6E8C-037B-C9294FBAC2B2}"/>
                </a:ext>
              </a:extLst>
            </p:cNvPr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1">
              <a:extLst>
                <a:ext uri="{FF2B5EF4-FFF2-40B4-BE49-F238E27FC236}">
                  <a16:creationId xmlns:a16="http://schemas.microsoft.com/office/drawing/2014/main" id="{FDED5407-3437-694D-FED0-C1A7B4F9EE82}"/>
                </a:ext>
              </a:extLst>
            </p:cNvPr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1">
              <a:extLst>
                <a:ext uri="{FF2B5EF4-FFF2-40B4-BE49-F238E27FC236}">
                  <a16:creationId xmlns:a16="http://schemas.microsoft.com/office/drawing/2014/main" id="{8C42543E-A59A-4D70-CA57-26D4950FC730}"/>
                </a:ext>
              </a:extLst>
            </p:cNvPr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641;p42">
            <a:extLst>
              <a:ext uri="{FF2B5EF4-FFF2-40B4-BE49-F238E27FC236}">
                <a16:creationId xmlns:a16="http://schemas.microsoft.com/office/drawing/2014/main" id="{E9048E7F-2E40-5F4A-A625-52CC64AF43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94013" y="4016278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Used to analyze scalability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8176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318E615A-D767-0710-93E9-61EDF459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A31033D5-83E5-01D9-94B5-B3FF70C46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75000"/>
                  </a:schemeClr>
                </a:solidFill>
              </a:rPr>
              <a:t>	Data</a:t>
            </a:r>
            <a:r>
              <a:rPr lang="en" dirty="0"/>
              <a:t> 							</a:t>
            </a:r>
            <a:r>
              <a:rPr lang="en-US" dirty="0">
                <a:solidFill>
                  <a:srgbClr val="4CAE97"/>
                </a:solidFill>
              </a:rPr>
              <a:t>Generation</a:t>
            </a:r>
            <a:endParaRPr dirty="0">
              <a:solidFill>
                <a:srgbClr val="4CAE97"/>
              </a:solidFill>
            </a:endParaRPr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B8422A60-8409-199C-17DA-540AF7A8221A}"/>
              </a:ext>
            </a:extLst>
          </p:cNvPr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CFFDA171-2326-40F5-0B37-D6821E77F52C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375AC326-658B-0EF6-D96C-A78F02A12FA1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D7976225-D556-DD1D-3A9B-A9A308E60D25}"/>
              </a:ext>
            </a:extLst>
          </p:cNvPr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FE3BE591-49D9-C32F-23DB-607643AC8AE8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7AD2AEDF-ED87-EF83-A411-72794486D42B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7CB23C11-CCA1-36D0-0068-E803285F905E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08F19D45-2309-50DC-4420-7E241F464AD0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3519291C-3C35-10E3-5AA0-519E315C00BA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CF82CD30-C502-1F6C-608C-883D53D95770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E799D19A-748E-4557-8BAF-0D40FFE6B8A5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F9E99BE8-737F-E02D-5527-70FEFA464FE8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7ABDBB85-E99A-6A69-851C-F88100E0E20D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74B89B5C-1677-81E6-6CF9-A93F7651271B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E81EBE34-AAD7-A0B0-D76D-E6C168EBDF76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083117C0-24BC-E900-DCFB-7FF03ED8A2B2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FA6A5980-A0C5-1432-82D4-7147CC2C94BA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F6814234-F7D8-731F-9270-BEAC0EDB3943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3523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79FACC03-92EE-278F-64E7-58A950CC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9">
            <a:extLst>
              <a:ext uri="{FF2B5EF4-FFF2-40B4-BE49-F238E27FC236}">
                <a16:creationId xmlns:a16="http://schemas.microsoft.com/office/drawing/2014/main" id="{420C39B0-607C-5252-F80B-5A12073BB2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0156" y="2061409"/>
            <a:ext cx="2373000" cy="1784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A single array of random values ​​is generated for each experiment. This array represents the underlying dataset on which the algorithms will be tested.</a:t>
            </a:r>
            <a:endParaRPr sz="1200" dirty="0"/>
          </a:p>
        </p:txBody>
      </p:sp>
      <p:sp>
        <p:nvSpPr>
          <p:cNvPr id="525" name="Google Shape;525;p39">
            <a:extLst>
              <a:ext uri="{FF2B5EF4-FFF2-40B4-BE49-F238E27FC236}">
                <a16:creationId xmlns:a16="http://schemas.microsoft.com/office/drawing/2014/main" id="{B24FBB90-FB07-0941-F23B-15476136ACA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22987" y="2756374"/>
            <a:ext cx="2373000" cy="1847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Before any sorting algorithm is run, an exact copy of the original array is created. Each algorithm works on the same data but on an independent copy.</a:t>
            </a:r>
            <a:endParaRPr sz="1200" dirty="0"/>
          </a:p>
        </p:txBody>
      </p:sp>
      <p:sp>
        <p:nvSpPr>
          <p:cNvPr id="526" name="Google Shape;526;p39">
            <a:extLst>
              <a:ext uri="{FF2B5EF4-FFF2-40B4-BE49-F238E27FC236}">
                <a16:creationId xmlns:a16="http://schemas.microsoft.com/office/drawing/2014/main" id="{1B25DCC7-7137-EE0B-2631-6BAC9E891A9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051000" y="2999486"/>
            <a:ext cx="2373000" cy="21440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This method prevents the effect of data sorting or modification by a previous algorithm, thus ensuring a fair comparison in terms of time and performance between all algorithms.</a:t>
            </a:r>
            <a:endParaRPr sz="1200" dirty="0"/>
          </a:p>
        </p:txBody>
      </p:sp>
      <p:sp>
        <p:nvSpPr>
          <p:cNvPr id="527" name="Google Shape;527;p39">
            <a:extLst>
              <a:ext uri="{FF2B5EF4-FFF2-40B4-BE49-F238E27FC236}">
                <a16:creationId xmlns:a16="http://schemas.microsoft.com/office/drawing/2014/main" id="{DF73CFBF-04BC-CA98-A7E5-F5A99546F60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22911" y="140365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dirty="0"/>
              <a:t>One dataset generated per test</a:t>
            </a:r>
            <a:endParaRPr sz="1600" dirty="0"/>
          </a:p>
        </p:txBody>
      </p:sp>
      <p:sp>
        <p:nvSpPr>
          <p:cNvPr id="528" name="Google Shape;528;p39">
            <a:extLst>
              <a:ext uri="{FF2B5EF4-FFF2-40B4-BE49-F238E27FC236}">
                <a16:creationId xmlns:a16="http://schemas.microsoft.com/office/drawing/2014/main" id="{A9277870-E4CE-BB46-A1DD-12C312E384B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292047" y="209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dirty="0">
                <a:solidFill>
                  <a:srgbClr val="BD64B5"/>
                </a:solidFill>
              </a:rPr>
              <a:t>Array copied for each algorithm</a:t>
            </a:r>
            <a:endParaRPr sz="1800" dirty="0">
              <a:solidFill>
                <a:srgbClr val="BD64B5"/>
              </a:solidFill>
            </a:endParaRPr>
          </a:p>
        </p:txBody>
      </p:sp>
      <p:sp>
        <p:nvSpPr>
          <p:cNvPr id="529" name="Google Shape;529;p39">
            <a:extLst>
              <a:ext uri="{FF2B5EF4-FFF2-40B4-BE49-F238E27FC236}">
                <a16:creationId xmlns:a16="http://schemas.microsoft.com/office/drawing/2014/main" id="{E137C912-9862-C07A-5DC1-999380F15F0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95987" y="2386364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dirty="0">
                <a:solidFill>
                  <a:srgbClr val="00CCFF"/>
                </a:solidFill>
              </a:rPr>
              <a:t>Ensures fair comparison</a:t>
            </a:r>
            <a:endParaRPr sz="1600" dirty="0">
              <a:solidFill>
                <a:srgbClr val="00CCFF"/>
              </a:solidFill>
            </a:endParaRPr>
          </a:p>
        </p:txBody>
      </p:sp>
      <p:grpSp>
        <p:nvGrpSpPr>
          <p:cNvPr id="530" name="Google Shape;530;p39">
            <a:extLst>
              <a:ext uri="{FF2B5EF4-FFF2-40B4-BE49-F238E27FC236}">
                <a16:creationId xmlns:a16="http://schemas.microsoft.com/office/drawing/2014/main" id="{7677D20E-EB5C-59D3-419C-D504C647AF79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72D460EA-6765-1A41-79B5-DED909C51BC7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9">
              <a:extLst>
                <a:ext uri="{FF2B5EF4-FFF2-40B4-BE49-F238E27FC236}">
                  <a16:creationId xmlns:a16="http://schemas.microsoft.com/office/drawing/2014/main" id="{E6361DA2-C9F1-40AC-A040-A1763FD25B08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>
              <a:extLst>
                <a:ext uri="{FF2B5EF4-FFF2-40B4-BE49-F238E27FC236}">
                  <a16:creationId xmlns:a16="http://schemas.microsoft.com/office/drawing/2014/main" id="{7268D827-A26D-74E0-2845-1B342FE4540D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>
              <a:extLst>
                <a:ext uri="{FF2B5EF4-FFF2-40B4-BE49-F238E27FC236}">
                  <a16:creationId xmlns:a16="http://schemas.microsoft.com/office/drawing/2014/main" id="{B97D7491-4ADB-1619-AA7B-60F5423B0CFC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>
              <a:extLst>
                <a:ext uri="{FF2B5EF4-FFF2-40B4-BE49-F238E27FC236}">
                  <a16:creationId xmlns:a16="http://schemas.microsoft.com/office/drawing/2014/main" id="{EDC171C8-87AF-D8EB-0DC7-59B7BCFFE946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>
              <a:extLst>
                <a:ext uri="{FF2B5EF4-FFF2-40B4-BE49-F238E27FC236}">
                  <a16:creationId xmlns:a16="http://schemas.microsoft.com/office/drawing/2014/main" id="{16FE0943-B0FB-9165-CFB9-48953FE15031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>
              <a:extLst>
                <a:ext uri="{FF2B5EF4-FFF2-40B4-BE49-F238E27FC236}">
                  <a16:creationId xmlns:a16="http://schemas.microsoft.com/office/drawing/2014/main" id="{B581BD48-5D7D-FA98-6353-61CFED0EE1C9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>
              <a:extLst>
                <a:ext uri="{FF2B5EF4-FFF2-40B4-BE49-F238E27FC236}">
                  <a16:creationId xmlns:a16="http://schemas.microsoft.com/office/drawing/2014/main" id="{FEE51A0B-7AA9-449F-E6FF-4456144E8D43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>
              <a:extLst>
                <a:ext uri="{FF2B5EF4-FFF2-40B4-BE49-F238E27FC236}">
                  <a16:creationId xmlns:a16="http://schemas.microsoft.com/office/drawing/2014/main" id="{419565DA-979F-A36C-19D9-61F9D86ED2BC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>
              <a:extLst>
                <a:ext uri="{FF2B5EF4-FFF2-40B4-BE49-F238E27FC236}">
                  <a16:creationId xmlns:a16="http://schemas.microsoft.com/office/drawing/2014/main" id="{E8A3BC1A-BDB2-D901-15BF-628B3BC7DBF5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>
              <a:extLst>
                <a:ext uri="{FF2B5EF4-FFF2-40B4-BE49-F238E27FC236}">
                  <a16:creationId xmlns:a16="http://schemas.microsoft.com/office/drawing/2014/main" id="{FB39FDBD-6C63-87EA-C198-EE732E7E6C9B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>
              <a:extLst>
                <a:ext uri="{FF2B5EF4-FFF2-40B4-BE49-F238E27FC236}">
                  <a16:creationId xmlns:a16="http://schemas.microsoft.com/office/drawing/2014/main" id="{E3953AA1-8AA6-1A10-375A-2F9DD2E2B611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>
              <a:extLst>
                <a:ext uri="{FF2B5EF4-FFF2-40B4-BE49-F238E27FC236}">
                  <a16:creationId xmlns:a16="http://schemas.microsoft.com/office/drawing/2014/main" id="{C9F49AF5-CF41-21C1-33AF-B05B90FC95B3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39">
            <a:extLst>
              <a:ext uri="{FF2B5EF4-FFF2-40B4-BE49-F238E27FC236}">
                <a16:creationId xmlns:a16="http://schemas.microsoft.com/office/drawing/2014/main" id="{B8C0097B-9CA9-E201-7900-B865AE16C5CE}"/>
              </a:ext>
            </a:extLst>
          </p:cNvPr>
          <p:cNvSpPr txBox="1"/>
          <p:nvPr/>
        </p:nvSpPr>
        <p:spPr>
          <a:xfrm>
            <a:off x="6983275" y="130146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2" name="Google Shape;502;p38">
            <a:extLst>
              <a:ext uri="{FF2B5EF4-FFF2-40B4-BE49-F238E27FC236}">
                <a16:creationId xmlns:a16="http://schemas.microsoft.com/office/drawing/2014/main" id="{810F579E-17FF-B137-F895-42D9D39C301E}"/>
              </a:ext>
            </a:extLst>
          </p:cNvPr>
          <p:cNvSpPr txBox="1"/>
          <p:nvPr/>
        </p:nvSpPr>
        <p:spPr>
          <a:xfrm>
            <a:off x="161489" y="1076287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4CAE97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" name="Google Shape;503;p38">
            <a:extLst>
              <a:ext uri="{FF2B5EF4-FFF2-40B4-BE49-F238E27FC236}">
                <a16:creationId xmlns:a16="http://schemas.microsoft.com/office/drawing/2014/main" id="{F1914183-1595-DD08-F5B2-510148B97EC6}"/>
              </a:ext>
            </a:extLst>
          </p:cNvPr>
          <p:cNvSpPr txBox="1"/>
          <p:nvPr/>
        </p:nvSpPr>
        <p:spPr>
          <a:xfrm>
            <a:off x="8534311" y="37122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BD64B5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rgbClr val="BD64B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1509386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DFBC1B11-43C6-D78A-4EE8-1650DBA6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2D92BF6B-6B7D-566A-0F27-D8346D6A7C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99"/>
                </a:solidFill>
              </a:rPr>
              <a:t>Performance</a:t>
            </a:r>
            <a:r>
              <a:rPr lang="en" dirty="0"/>
              <a:t>							</a:t>
            </a:r>
            <a:r>
              <a:rPr lang="en-US" dirty="0">
                <a:solidFill>
                  <a:srgbClr val="4CAE97"/>
                </a:solidFill>
              </a:rPr>
              <a:t>Measurement</a:t>
            </a:r>
            <a:endParaRPr dirty="0">
              <a:solidFill>
                <a:srgbClr val="4CAE97"/>
              </a:solidFill>
            </a:endParaRPr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CE53FE91-4756-60A6-7515-A7ECBBC78140}"/>
              </a:ext>
            </a:extLst>
          </p:cNvPr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5219798E-5D68-6D8E-F511-53395BEE299D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D9F052F0-9C1D-6EAF-F945-ED94222CBBC6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78B1BA3C-4DC0-820E-ED04-D1EB60EF118B}"/>
              </a:ext>
            </a:extLst>
          </p:cNvPr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A0C3B463-EED2-2C87-4E89-1E7638378D37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9684E2A5-DEE7-EF1A-CFF3-7F86F1734863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D63DD76E-082C-A6C8-F240-46805E6B97A8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9ACE5683-7735-760F-56E2-B56EC145D943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F64BA4C0-CC11-8D93-74E3-2A1A33915753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8D4DA732-05A2-4351-22A4-EBD00EED893D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010E7D47-AFB5-C890-DB4A-707AA0BD4721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3EDFA43B-4DDE-C11E-8001-DBCBF0EF05E2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5FB73180-8F80-0980-97C5-4362B7AEB54F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59487E71-3C7A-76BF-9A2B-A543F70C474F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5A327E71-04D5-7638-343E-782DBB060072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BA4C35AB-8C25-4D00-826E-2E9A13F874F9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F40581A5-5243-1C79-8C7D-AE9A63327A31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A284B2B8-3BD9-2488-7E87-C6F022294657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83659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2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2"/>
          <p:cNvSpPr txBox="1">
            <a:spLocks noGrp="1"/>
          </p:cNvSpPr>
          <p:nvPr>
            <p:ph type="title"/>
          </p:nvPr>
        </p:nvSpPr>
        <p:spPr>
          <a:xfrm>
            <a:off x="1046219" y="52037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tx1"/>
                </a:solidFill>
              </a:rPr>
              <a:t>Performance</a:t>
            </a:r>
            <a:r>
              <a:rPr lang="en" dirty="0">
                <a:solidFill>
                  <a:srgbClr val="FFFF99"/>
                </a:solidFill>
              </a:rPr>
              <a:t> </a:t>
            </a:r>
            <a:r>
              <a:rPr lang="en-US" dirty="0">
                <a:solidFill>
                  <a:srgbClr val="4CAE97"/>
                </a:solidFill>
              </a:rPr>
              <a:t>Measurement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41" name="Google Shape;641;p42"/>
          <p:cNvSpPr txBox="1">
            <a:spLocks noGrp="1"/>
          </p:cNvSpPr>
          <p:nvPr>
            <p:ph type="subTitle" idx="1"/>
          </p:nvPr>
        </p:nvSpPr>
        <p:spPr>
          <a:xfrm>
            <a:off x="319025" y="1970331"/>
            <a:ext cx="2068875" cy="1513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The </a:t>
            </a:r>
            <a:r>
              <a:rPr lang="en-US" sz="1200" dirty="0" err="1"/>
              <a:t>System.currentTimeMillis</a:t>
            </a:r>
            <a:r>
              <a:rPr lang="en-US" sz="1200" dirty="0"/>
              <a:t>() function in Java was used to get the current time on the system.</a:t>
            </a:r>
            <a:endParaRPr sz="1200" dirty="0"/>
          </a:p>
        </p:txBody>
      </p:sp>
      <p:sp>
        <p:nvSpPr>
          <p:cNvPr id="642" name="Google Shape;642;p42"/>
          <p:cNvSpPr txBox="1">
            <a:spLocks noGrp="1"/>
          </p:cNvSpPr>
          <p:nvPr>
            <p:ph type="subTitle" idx="3"/>
          </p:nvPr>
        </p:nvSpPr>
        <p:spPr>
          <a:xfrm>
            <a:off x="2532410" y="3625672"/>
            <a:ext cx="2554514" cy="1480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100" dirty="0"/>
              <a:t>The time is recorded immediately before the sorting process begins, and then the time is recorded again after it is completed.</a:t>
            </a:r>
            <a:endParaRPr sz="1100" dirty="0"/>
          </a:p>
        </p:txBody>
      </p:sp>
      <p:sp>
        <p:nvSpPr>
          <p:cNvPr id="643" name="Google Shape;643;p42"/>
          <p:cNvSpPr txBox="1">
            <a:spLocks noGrp="1"/>
          </p:cNvSpPr>
          <p:nvPr>
            <p:ph type="subTitle" idx="4"/>
          </p:nvPr>
        </p:nvSpPr>
        <p:spPr>
          <a:xfrm>
            <a:off x="4356399" y="1970331"/>
            <a:ext cx="1986000" cy="1057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Execution time = Time after sorting − Time before sorting</a:t>
            </a:r>
            <a:endParaRPr dirty="0"/>
          </a:p>
        </p:txBody>
      </p:sp>
      <p:sp>
        <p:nvSpPr>
          <p:cNvPr id="644" name="Google Shape;644;p42"/>
          <p:cNvSpPr txBox="1">
            <a:spLocks noGrp="1"/>
          </p:cNvSpPr>
          <p:nvPr>
            <p:ph type="subTitle" idx="6"/>
          </p:nvPr>
        </p:nvSpPr>
        <p:spPr>
          <a:xfrm>
            <a:off x="6972045" y="2674325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results are expressed in milliseconds.</a:t>
            </a:r>
            <a:endParaRPr dirty="0"/>
          </a:p>
        </p:txBody>
      </p:sp>
      <p:sp>
        <p:nvSpPr>
          <p:cNvPr id="645" name="Google Shape;645;p42"/>
          <p:cNvSpPr txBox="1">
            <a:spLocks noGrp="1"/>
          </p:cNvSpPr>
          <p:nvPr>
            <p:ph type="subTitle" idx="7"/>
          </p:nvPr>
        </p:nvSpPr>
        <p:spPr>
          <a:xfrm>
            <a:off x="319025" y="1156217"/>
            <a:ext cx="3067062" cy="7219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U</a:t>
            </a:r>
            <a:r>
              <a:rPr lang="en" sz="1200" dirty="0"/>
              <a:t>sing </a:t>
            </a:r>
          </a:p>
          <a:p>
            <a:pPr marL="0" lvl="0" indent="0"/>
            <a:r>
              <a:rPr lang="en-US" sz="1200" dirty="0" err="1"/>
              <a:t>System.currentTimeMillis</a:t>
            </a:r>
            <a:r>
              <a:rPr lang="en-US" sz="1200" dirty="0"/>
              <a:t>()</a:t>
            </a:r>
            <a:endParaRPr sz="1200" dirty="0"/>
          </a:p>
        </p:txBody>
      </p:sp>
      <p:sp>
        <p:nvSpPr>
          <p:cNvPr id="648" name="Google Shape;648;p42"/>
          <p:cNvSpPr txBox="1">
            <a:spLocks noGrp="1"/>
          </p:cNvSpPr>
          <p:nvPr>
            <p:ph type="subTitle" idx="13"/>
          </p:nvPr>
        </p:nvSpPr>
        <p:spPr>
          <a:xfrm>
            <a:off x="2532410" y="3061625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200" dirty="0"/>
              <a:t>Measure time before and after sorting</a:t>
            </a:r>
            <a:endParaRPr sz="1200" dirty="0"/>
          </a:p>
        </p:txBody>
      </p:sp>
      <p:sp>
        <p:nvSpPr>
          <p:cNvPr id="649" name="Google Shape;649;p42"/>
          <p:cNvSpPr txBox="1">
            <a:spLocks noGrp="1"/>
          </p:cNvSpPr>
          <p:nvPr>
            <p:ph type="subTitle" idx="14"/>
          </p:nvPr>
        </p:nvSpPr>
        <p:spPr>
          <a:xfrm>
            <a:off x="4356399" y="1371600"/>
            <a:ext cx="1978200" cy="5987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400" dirty="0"/>
              <a:t>Execution time calculation</a:t>
            </a:r>
            <a:endParaRPr sz="1400" dirty="0"/>
          </a:p>
        </p:txBody>
      </p:sp>
      <p:sp>
        <p:nvSpPr>
          <p:cNvPr id="650" name="Google Shape;650;p42"/>
          <p:cNvSpPr txBox="1">
            <a:spLocks noGrp="1"/>
          </p:cNvSpPr>
          <p:nvPr>
            <p:ph type="subTitle" idx="15"/>
          </p:nvPr>
        </p:nvSpPr>
        <p:spPr>
          <a:xfrm>
            <a:off x="6835166" y="1605425"/>
            <a:ext cx="1978200" cy="8908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400" dirty="0"/>
              <a:t>Execution time in milliseconds (</a:t>
            </a:r>
            <a:r>
              <a:rPr lang="en-US" sz="1400" dirty="0" err="1"/>
              <a:t>ms</a:t>
            </a:r>
            <a:r>
              <a:rPr lang="en-US" sz="1400" dirty="0"/>
              <a:t>)</a:t>
            </a:r>
            <a:endParaRPr sz="1400" dirty="0"/>
          </a:p>
        </p:txBody>
      </p:sp>
      <p:sp>
        <p:nvSpPr>
          <p:cNvPr id="651" name="Google Shape;651;p42"/>
          <p:cNvSpPr txBox="1"/>
          <p:nvPr/>
        </p:nvSpPr>
        <p:spPr>
          <a:xfrm>
            <a:off x="226313" y="2963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2" name="Google Shape;652;p42"/>
          <p:cNvSpPr txBox="1"/>
          <p:nvPr/>
        </p:nvSpPr>
        <p:spPr>
          <a:xfrm>
            <a:off x="7343775" y="415290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7951750" y="436590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670663" y="51105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655" name="Google Shape;655;p42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656" name="Google Shape;656;p42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2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2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" name="Google Shape;659;p42"/>
          <p:cNvSpPr txBox="1"/>
          <p:nvPr/>
        </p:nvSpPr>
        <p:spPr>
          <a:xfrm>
            <a:off x="319025" y="403467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17063758-E5F4-127D-157F-52F04537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204A5A58-3DC4-5062-77EC-92B6D84E3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99"/>
                </a:solidFill>
              </a:rPr>
              <a:t>Result  </a:t>
            </a:r>
            <a:r>
              <a:rPr lang="en" dirty="0"/>
              <a:t>							</a:t>
            </a:r>
            <a:r>
              <a:rPr lang="en-US" dirty="0">
                <a:solidFill>
                  <a:srgbClr val="4CAE97"/>
                </a:solidFill>
              </a:rPr>
              <a:t>Table  </a:t>
            </a:r>
            <a:endParaRPr dirty="0">
              <a:solidFill>
                <a:srgbClr val="4CAE97"/>
              </a:solidFill>
            </a:endParaRPr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9864C005-7613-77D7-ABD4-EFDAE054C400}"/>
              </a:ext>
            </a:extLst>
          </p:cNvPr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174F0C14-23C2-4AAE-5680-A2B3318D3D1D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C2FD148E-A8FB-0E0C-C7B7-0DD612091CFA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D85F0EF9-2455-CCBB-1922-8A7C5A5E638B}"/>
              </a:ext>
            </a:extLst>
          </p:cNvPr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F9B07002-2AF1-2B6D-0F78-3D7948966308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DCE19BB9-8710-17CA-1662-F85FE8491E13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D666210D-6485-D2B9-1275-F97297B3FC4A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820A0F45-A01D-806B-E00E-ACF0574DC4E1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E33A1208-5F5F-83C3-8E98-076020CC91E2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11833948-4AEB-106E-90A8-DE196650A9D5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7B2ABDBB-0EFF-289D-ED57-5C27C18C77F2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672D62F3-85EF-163F-0C91-4616592B9FC4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00ACADEB-A41A-5497-8AD2-D9462D68B594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40F37687-6FCA-B48D-F52C-DD9D7A26722C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9380DFE6-7AFA-B42A-42FD-4660E138F41E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0CC4F3DF-03D6-540D-5093-F6BBCF055FFD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0A55A254-B1BD-C28F-6575-385B960D3C69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064F0EC6-20A9-5753-8DFA-1964C4B5BE4B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37931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/>
              <a:t>Sortind Algorithm </a:t>
            </a:r>
            <a:r>
              <a:rPr lang="en-US" sz="2800" dirty="0">
                <a:solidFill>
                  <a:srgbClr val="BD64B5"/>
                </a:solidFill>
              </a:rPr>
              <a:t>Random Data</a:t>
            </a:r>
            <a:endParaRPr sz="2800" dirty="0">
              <a:solidFill>
                <a:srgbClr val="BD64B5"/>
              </a:solidFill>
            </a:endParaRPr>
          </a:p>
        </p:txBody>
      </p:sp>
      <p:graphicFrame>
        <p:nvGraphicFramePr>
          <p:cNvPr id="1306" name="Google Shape;1306;p61"/>
          <p:cNvGraphicFramePr/>
          <p:nvPr>
            <p:extLst>
              <p:ext uri="{D42A27DB-BD31-4B8C-83A1-F6EECF244321}">
                <p14:modId xmlns:p14="http://schemas.microsoft.com/office/powerpoint/2010/main" val="3956763329"/>
              </p:ext>
            </p:extLst>
          </p:nvPr>
        </p:nvGraphicFramePr>
        <p:xfrm>
          <a:off x="719988" y="1557435"/>
          <a:ext cx="7703975" cy="3422990"/>
        </p:xfrm>
        <a:graphic>
          <a:graphicData uri="http://schemas.openxmlformats.org/drawingml/2006/table">
            <a:tbl>
              <a:tblPr>
                <a:noFill/>
                <a:tableStyleId>{8588B833-C108-4C4D-A2D4-81A35ACA12B2}</a:tableStyleId>
              </a:tblPr>
              <a:tblGrid>
                <a:gridCol w="12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E48AB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Dataset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E48AB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Size </a:t>
                      </a:r>
                      <a:endParaRPr sz="1800" dirty="0">
                        <a:solidFill>
                          <a:srgbClr val="4E48AB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I</a:t>
                      </a:r>
                      <a:r>
                        <a:rPr lang="en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nsertion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S</a:t>
                      </a:r>
                      <a:r>
                        <a:rPr lang="en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ort (ms) </a:t>
                      </a:r>
                      <a:endParaRPr sz="1800" dirty="0"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Merge Sort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Heap Sort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5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Quick Sort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5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5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3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1,000</a:t>
                      </a:r>
                      <a:endParaRPr sz="1800" dirty="0">
                        <a:solidFill>
                          <a:schemeClr val="accent3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 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10,000</a:t>
                      </a:r>
                      <a:endParaRPr sz="1800" dirty="0">
                        <a:solidFill>
                          <a:schemeClr val="lt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43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50,000</a:t>
                      </a:r>
                      <a:endParaRPr sz="1800" dirty="0">
                        <a:solidFill>
                          <a:schemeClr val="accent4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174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100,000</a:t>
                      </a:r>
                      <a:endParaRPr sz="1800" dirty="0">
                        <a:solidFill>
                          <a:schemeClr val="accent4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679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38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14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17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807460"/>
                  </a:ext>
                </a:extLst>
              </a:tr>
            </a:tbl>
          </a:graphicData>
        </a:graphic>
      </p:graphicFrame>
      <p:sp>
        <p:nvSpPr>
          <p:cNvPr id="1307" name="Google Shape;1307;p61"/>
          <p:cNvSpPr txBox="1"/>
          <p:nvPr/>
        </p:nvSpPr>
        <p:spPr>
          <a:xfrm>
            <a:off x="101288" y="1222863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61"/>
          <p:cNvSpPr txBox="1"/>
          <p:nvPr/>
        </p:nvSpPr>
        <p:spPr>
          <a:xfrm>
            <a:off x="8495700" y="40634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>
          <a:extLst>
            <a:ext uri="{FF2B5EF4-FFF2-40B4-BE49-F238E27FC236}">
              <a16:creationId xmlns:a16="http://schemas.microsoft.com/office/drawing/2014/main" id="{7AA6E5C7-E81A-F216-40DE-9E02682B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>
            <a:extLst>
              <a:ext uri="{FF2B5EF4-FFF2-40B4-BE49-F238E27FC236}">
                <a16:creationId xmlns:a16="http://schemas.microsoft.com/office/drawing/2014/main" id="{E8D08C32-30EB-07F5-F2B8-92E8EEB52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/>
              <a:t>Sortind Algorithm </a:t>
            </a:r>
            <a:r>
              <a:rPr lang="en-US" sz="2800" dirty="0">
                <a:solidFill>
                  <a:srgbClr val="BD64B5"/>
                </a:solidFill>
              </a:rPr>
              <a:t>Sorted Data</a:t>
            </a:r>
            <a:endParaRPr sz="2800" dirty="0">
              <a:solidFill>
                <a:srgbClr val="BD64B5"/>
              </a:solidFill>
            </a:endParaRPr>
          </a:p>
        </p:txBody>
      </p:sp>
      <p:graphicFrame>
        <p:nvGraphicFramePr>
          <p:cNvPr id="1306" name="Google Shape;1306;p61">
            <a:extLst>
              <a:ext uri="{FF2B5EF4-FFF2-40B4-BE49-F238E27FC236}">
                <a16:creationId xmlns:a16="http://schemas.microsoft.com/office/drawing/2014/main" id="{099AE614-7E06-2740-E57D-7ECC7B2492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4206563"/>
              </p:ext>
            </p:extLst>
          </p:nvPr>
        </p:nvGraphicFramePr>
        <p:xfrm>
          <a:off x="719988" y="1557435"/>
          <a:ext cx="7703975" cy="3422990"/>
        </p:xfrm>
        <a:graphic>
          <a:graphicData uri="http://schemas.openxmlformats.org/drawingml/2006/table">
            <a:tbl>
              <a:tblPr>
                <a:noFill/>
                <a:tableStyleId>{8588B833-C108-4C4D-A2D4-81A35ACA12B2}</a:tableStyleId>
              </a:tblPr>
              <a:tblGrid>
                <a:gridCol w="12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E48AB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Dataset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E48AB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Size </a:t>
                      </a:r>
                      <a:endParaRPr sz="1800" dirty="0">
                        <a:solidFill>
                          <a:srgbClr val="4E48AB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I</a:t>
                      </a:r>
                      <a:r>
                        <a:rPr lang="en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nsertion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S</a:t>
                      </a:r>
                      <a:r>
                        <a:rPr lang="en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ort (ms) </a:t>
                      </a:r>
                      <a:endParaRPr sz="1800" dirty="0"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Merge Sort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Heap Sort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5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Quick Sort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5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5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3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1,000</a:t>
                      </a:r>
                      <a:endParaRPr sz="1800" dirty="0">
                        <a:solidFill>
                          <a:schemeClr val="accent3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10,000</a:t>
                      </a:r>
                      <a:endParaRPr sz="1800" dirty="0">
                        <a:solidFill>
                          <a:schemeClr val="lt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50,000</a:t>
                      </a:r>
                      <a:endParaRPr sz="1800" dirty="0">
                        <a:solidFill>
                          <a:schemeClr val="accent4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100,000</a:t>
                      </a:r>
                      <a:endParaRPr sz="1800" dirty="0">
                        <a:solidFill>
                          <a:schemeClr val="accent4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807460"/>
                  </a:ext>
                </a:extLst>
              </a:tr>
            </a:tbl>
          </a:graphicData>
        </a:graphic>
      </p:graphicFrame>
      <p:sp>
        <p:nvSpPr>
          <p:cNvPr id="1307" name="Google Shape;1307;p61">
            <a:extLst>
              <a:ext uri="{FF2B5EF4-FFF2-40B4-BE49-F238E27FC236}">
                <a16:creationId xmlns:a16="http://schemas.microsoft.com/office/drawing/2014/main" id="{C608D2A4-E753-9A0F-DA62-457401EE45C9}"/>
              </a:ext>
            </a:extLst>
          </p:cNvPr>
          <p:cNvSpPr txBox="1"/>
          <p:nvPr/>
        </p:nvSpPr>
        <p:spPr>
          <a:xfrm>
            <a:off x="101288" y="1222863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61">
            <a:extLst>
              <a:ext uri="{FF2B5EF4-FFF2-40B4-BE49-F238E27FC236}">
                <a16:creationId xmlns:a16="http://schemas.microsoft.com/office/drawing/2014/main" id="{E013B620-537F-BD98-49DA-CD2DFD587F86}"/>
              </a:ext>
            </a:extLst>
          </p:cNvPr>
          <p:cNvSpPr txBox="1"/>
          <p:nvPr/>
        </p:nvSpPr>
        <p:spPr>
          <a:xfrm>
            <a:off x="8495700" y="40634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1255299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>
          <a:extLst>
            <a:ext uri="{FF2B5EF4-FFF2-40B4-BE49-F238E27FC236}">
              <a16:creationId xmlns:a16="http://schemas.microsoft.com/office/drawing/2014/main" id="{CB90EEDD-F16E-436F-C773-AA9ED3BA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>
            <a:extLst>
              <a:ext uri="{FF2B5EF4-FFF2-40B4-BE49-F238E27FC236}">
                <a16:creationId xmlns:a16="http://schemas.microsoft.com/office/drawing/2014/main" id="{49A00DB3-E194-0FEE-70E0-DF84AA279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Sortind Algorithm </a:t>
            </a:r>
            <a:r>
              <a:rPr lang="en-US" sz="2400" dirty="0">
                <a:solidFill>
                  <a:srgbClr val="BD64B5"/>
                </a:solidFill>
              </a:rPr>
              <a:t>Reverse Sorted  Data</a:t>
            </a:r>
            <a:endParaRPr sz="2400" dirty="0">
              <a:solidFill>
                <a:srgbClr val="BD64B5"/>
              </a:solidFill>
            </a:endParaRPr>
          </a:p>
        </p:txBody>
      </p:sp>
      <p:graphicFrame>
        <p:nvGraphicFramePr>
          <p:cNvPr id="1306" name="Google Shape;1306;p61">
            <a:extLst>
              <a:ext uri="{FF2B5EF4-FFF2-40B4-BE49-F238E27FC236}">
                <a16:creationId xmlns:a16="http://schemas.microsoft.com/office/drawing/2014/main" id="{993E80CC-C818-ACD4-048F-2ED4BFFDE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929211"/>
              </p:ext>
            </p:extLst>
          </p:nvPr>
        </p:nvGraphicFramePr>
        <p:xfrm>
          <a:off x="719988" y="1557435"/>
          <a:ext cx="7703975" cy="3422990"/>
        </p:xfrm>
        <a:graphic>
          <a:graphicData uri="http://schemas.openxmlformats.org/drawingml/2006/table">
            <a:tbl>
              <a:tblPr>
                <a:noFill/>
                <a:tableStyleId>{8588B833-C108-4C4D-A2D4-81A35ACA12B2}</a:tableStyleId>
              </a:tblPr>
              <a:tblGrid>
                <a:gridCol w="12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E48AB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Dataset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E48AB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Size </a:t>
                      </a:r>
                      <a:endParaRPr sz="1800" dirty="0">
                        <a:solidFill>
                          <a:srgbClr val="4E48AB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I</a:t>
                      </a:r>
                      <a:r>
                        <a:rPr lang="en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nsertion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S</a:t>
                      </a:r>
                      <a:r>
                        <a:rPr lang="en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ort (ms) </a:t>
                      </a:r>
                      <a:endParaRPr sz="1800" dirty="0"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Merge Sort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Heap Sort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5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Quick Sort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5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5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3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1,000</a:t>
                      </a:r>
                      <a:endParaRPr sz="1800" dirty="0">
                        <a:solidFill>
                          <a:schemeClr val="accent3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18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10,000</a:t>
                      </a:r>
                      <a:endParaRPr sz="1800" dirty="0">
                        <a:solidFill>
                          <a:schemeClr val="lt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52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50,000</a:t>
                      </a:r>
                      <a:endParaRPr sz="1800" dirty="0">
                        <a:solidFill>
                          <a:schemeClr val="accent4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356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100,000</a:t>
                      </a:r>
                      <a:endParaRPr sz="1800" dirty="0">
                        <a:solidFill>
                          <a:schemeClr val="accent4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1320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807460"/>
                  </a:ext>
                </a:extLst>
              </a:tr>
            </a:tbl>
          </a:graphicData>
        </a:graphic>
      </p:graphicFrame>
      <p:sp>
        <p:nvSpPr>
          <p:cNvPr id="1307" name="Google Shape;1307;p61">
            <a:extLst>
              <a:ext uri="{FF2B5EF4-FFF2-40B4-BE49-F238E27FC236}">
                <a16:creationId xmlns:a16="http://schemas.microsoft.com/office/drawing/2014/main" id="{45D57DAB-2586-944A-19AF-738EB377B4DF}"/>
              </a:ext>
            </a:extLst>
          </p:cNvPr>
          <p:cNvSpPr txBox="1"/>
          <p:nvPr/>
        </p:nvSpPr>
        <p:spPr>
          <a:xfrm>
            <a:off x="101288" y="1222863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61">
            <a:extLst>
              <a:ext uri="{FF2B5EF4-FFF2-40B4-BE49-F238E27FC236}">
                <a16:creationId xmlns:a16="http://schemas.microsoft.com/office/drawing/2014/main" id="{493E2804-9E08-A184-207A-DF769E0F49A8}"/>
              </a:ext>
            </a:extLst>
          </p:cNvPr>
          <p:cNvSpPr txBox="1"/>
          <p:nvPr/>
        </p:nvSpPr>
        <p:spPr>
          <a:xfrm>
            <a:off x="8495700" y="40634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1703468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>
          <a:extLst>
            <a:ext uri="{FF2B5EF4-FFF2-40B4-BE49-F238E27FC236}">
              <a16:creationId xmlns:a16="http://schemas.microsoft.com/office/drawing/2014/main" id="{AB25A81B-A051-27DC-8E01-262BE4947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>
            <a:extLst>
              <a:ext uri="{FF2B5EF4-FFF2-40B4-BE49-F238E27FC236}">
                <a16:creationId xmlns:a16="http://schemas.microsoft.com/office/drawing/2014/main" id="{B76B09E8-EFB8-E037-8AB5-6266E3431F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/>
              <a:t>Sortind Algorithm </a:t>
            </a:r>
            <a:r>
              <a:rPr lang="en-US" sz="2800" dirty="0">
                <a:solidFill>
                  <a:srgbClr val="BD64B5"/>
                </a:solidFill>
              </a:rPr>
              <a:t>Few Unique  Data</a:t>
            </a:r>
            <a:endParaRPr sz="2800" dirty="0">
              <a:solidFill>
                <a:srgbClr val="BD64B5"/>
              </a:solidFill>
            </a:endParaRPr>
          </a:p>
        </p:txBody>
      </p:sp>
      <p:graphicFrame>
        <p:nvGraphicFramePr>
          <p:cNvPr id="1306" name="Google Shape;1306;p61">
            <a:extLst>
              <a:ext uri="{FF2B5EF4-FFF2-40B4-BE49-F238E27FC236}">
                <a16:creationId xmlns:a16="http://schemas.microsoft.com/office/drawing/2014/main" id="{362E76CD-6F19-AAB8-05FB-E0721B30D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3843423"/>
              </p:ext>
            </p:extLst>
          </p:nvPr>
        </p:nvGraphicFramePr>
        <p:xfrm>
          <a:off x="719988" y="1557435"/>
          <a:ext cx="7703975" cy="3422990"/>
        </p:xfrm>
        <a:graphic>
          <a:graphicData uri="http://schemas.openxmlformats.org/drawingml/2006/table">
            <a:tbl>
              <a:tblPr>
                <a:noFill/>
                <a:tableStyleId>{8588B833-C108-4C4D-A2D4-81A35ACA12B2}</a:tableStyleId>
              </a:tblPr>
              <a:tblGrid>
                <a:gridCol w="12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E48AB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Dataset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E48AB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Size </a:t>
                      </a:r>
                      <a:endParaRPr sz="1800" dirty="0">
                        <a:solidFill>
                          <a:srgbClr val="4E48AB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I</a:t>
                      </a:r>
                      <a:r>
                        <a:rPr lang="en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nsertion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S</a:t>
                      </a:r>
                      <a:r>
                        <a:rPr lang="en" sz="1800" dirty="0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ort (ms) </a:t>
                      </a:r>
                      <a:endParaRPr sz="1800" dirty="0"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Merge Sort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Heap Sort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5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Quick Sort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chemeClr val="accent5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(ms)</a:t>
                      </a:r>
                      <a:endParaRPr sz="1800" dirty="0">
                        <a:solidFill>
                          <a:schemeClr val="accent5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3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1,000</a:t>
                      </a:r>
                      <a:endParaRPr sz="1800" dirty="0">
                        <a:solidFill>
                          <a:schemeClr val="accent3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10,000</a:t>
                      </a:r>
                      <a:endParaRPr sz="1800" dirty="0">
                        <a:solidFill>
                          <a:schemeClr val="lt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50,000</a:t>
                      </a:r>
                      <a:endParaRPr sz="1800" dirty="0">
                        <a:solidFill>
                          <a:schemeClr val="accent4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129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13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ms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100,000</a:t>
                      </a:r>
                      <a:endParaRPr sz="1800" dirty="0">
                        <a:solidFill>
                          <a:schemeClr val="accent4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530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807460"/>
                  </a:ext>
                </a:extLst>
              </a:tr>
            </a:tbl>
          </a:graphicData>
        </a:graphic>
      </p:graphicFrame>
      <p:sp>
        <p:nvSpPr>
          <p:cNvPr id="1307" name="Google Shape;1307;p61">
            <a:extLst>
              <a:ext uri="{FF2B5EF4-FFF2-40B4-BE49-F238E27FC236}">
                <a16:creationId xmlns:a16="http://schemas.microsoft.com/office/drawing/2014/main" id="{C145BA5F-B14B-8F97-D72F-AECF5BB6D064}"/>
              </a:ext>
            </a:extLst>
          </p:cNvPr>
          <p:cNvSpPr txBox="1"/>
          <p:nvPr/>
        </p:nvSpPr>
        <p:spPr>
          <a:xfrm>
            <a:off x="101288" y="1222863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61">
            <a:extLst>
              <a:ext uri="{FF2B5EF4-FFF2-40B4-BE49-F238E27FC236}">
                <a16:creationId xmlns:a16="http://schemas.microsoft.com/office/drawing/2014/main" id="{2D1146EC-2AD7-FBE4-C4BB-F9F060D05094}"/>
              </a:ext>
            </a:extLst>
          </p:cNvPr>
          <p:cNvSpPr txBox="1"/>
          <p:nvPr/>
        </p:nvSpPr>
        <p:spPr>
          <a:xfrm>
            <a:off x="8495700" y="40634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2660061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9FB0DC62-5E4B-E269-C383-DED4DE30D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07862E5E-037A-FB5B-3465-889D64AEC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3325" y="2701694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99"/>
                </a:solidFill>
              </a:rPr>
              <a:t>Result  </a:t>
            </a:r>
            <a:r>
              <a:rPr lang="en" dirty="0"/>
              <a:t>							</a:t>
            </a:r>
            <a:r>
              <a:rPr lang="en-US" dirty="0">
                <a:solidFill>
                  <a:srgbClr val="4CAE97"/>
                </a:solidFill>
              </a:rPr>
              <a:t>Line Chart   </a:t>
            </a:r>
            <a:endParaRPr dirty="0">
              <a:solidFill>
                <a:srgbClr val="4CAE97"/>
              </a:solidFill>
            </a:endParaRPr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FADC1070-6E23-FD20-03C7-4A36FBE95D45}"/>
              </a:ext>
            </a:extLst>
          </p:cNvPr>
          <p:cNvSpPr txBox="1"/>
          <p:nvPr/>
        </p:nvSpPr>
        <p:spPr>
          <a:xfrm>
            <a:off x="1547875" y="142632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 dirty="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38E67735-E9C4-81A2-534F-D542D6416740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B1EEE6A0-0881-02F5-3F54-FAB84E093433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74014726-5874-2ABE-BC33-98498F22BB89}"/>
              </a:ext>
            </a:extLst>
          </p:cNvPr>
          <p:cNvSpPr txBox="1"/>
          <p:nvPr/>
        </p:nvSpPr>
        <p:spPr>
          <a:xfrm>
            <a:off x="2252575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5"/>
              </a:solidFill>
            </a:endParaRPr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4CF7ED05-F8F6-2527-72E6-DDA2A7D300F6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4B5064C5-EDEA-96CB-52E0-274298E3077C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B6AC58EB-F24C-1937-C97C-837F293F0713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9647E253-10F7-BA0F-0955-E2C8F267E6DD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99405591-16D4-DB14-86CC-78032CE8DE20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B719B38E-3659-6DE5-1F57-37AFA75A31C3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7BF88590-04A2-424F-895A-8C76A83956AF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478AC034-5E79-1D3C-97AA-236B31325825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F6BF2CC2-B06E-5DB4-D528-13D66ABFB7E6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8AFE6FA4-7B5A-89B9-3279-E14BB982CEE6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853CA49A-9E05-5D5B-A1E8-D69F8B17DFA1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62FB7616-E6FC-119F-3C15-73BBF9AC1615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8C250A75-5949-0DF8-97B3-3257957D08F2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30D28C87-1754-799D-AC5F-54E2631B25F5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80824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>
          <a:extLst>
            <a:ext uri="{FF2B5EF4-FFF2-40B4-BE49-F238E27FC236}">
              <a16:creationId xmlns:a16="http://schemas.microsoft.com/office/drawing/2014/main" id="{8B222EC5-821B-C1D4-03D1-D0936424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>
            <a:extLst>
              <a:ext uri="{FF2B5EF4-FFF2-40B4-BE49-F238E27FC236}">
                <a16:creationId xmlns:a16="http://schemas.microsoft.com/office/drawing/2014/main" id="{FA21956B-F3B3-782A-A8E6-1D7C89D5B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>
                <a:solidFill>
                  <a:srgbClr val="BD64B5"/>
                </a:solidFill>
              </a:rPr>
              <a:t>Line Chart – </a:t>
            </a:r>
            <a:r>
              <a:rPr lang="en-US" sz="2800" dirty="0">
                <a:solidFill>
                  <a:srgbClr val="BD64B5"/>
                </a:solidFill>
              </a:rPr>
              <a:t>Random  Data</a:t>
            </a:r>
            <a:endParaRPr sz="2800" dirty="0">
              <a:solidFill>
                <a:srgbClr val="BD64B5"/>
              </a:solidFill>
            </a:endParaRPr>
          </a:p>
        </p:txBody>
      </p:sp>
      <p:sp>
        <p:nvSpPr>
          <p:cNvPr id="1307" name="Google Shape;1307;p61">
            <a:extLst>
              <a:ext uri="{FF2B5EF4-FFF2-40B4-BE49-F238E27FC236}">
                <a16:creationId xmlns:a16="http://schemas.microsoft.com/office/drawing/2014/main" id="{F9E8A992-B961-863C-1741-08582AA9726F}"/>
              </a:ext>
            </a:extLst>
          </p:cNvPr>
          <p:cNvSpPr txBox="1"/>
          <p:nvPr/>
        </p:nvSpPr>
        <p:spPr>
          <a:xfrm>
            <a:off x="101288" y="1222863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61">
            <a:extLst>
              <a:ext uri="{FF2B5EF4-FFF2-40B4-BE49-F238E27FC236}">
                <a16:creationId xmlns:a16="http://schemas.microsoft.com/office/drawing/2014/main" id="{3EB7BCA6-6978-5A4B-F8EF-2E605E10863C}"/>
              </a:ext>
            </a:extLst>
          </p:cNvPr>
          <p:cNvSpPr txBox="1"/>
          <p:nvPr/>
        </p:nvSpPr>
        <p:spPr>
          <a:xfrm>
            <a:off x="8495700" y="40634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2" name="مخطط 1">
            <a:extLst>
              <a:ext uri="{FF2B5EF4-FFF2-40B4-BE49-F238E27FC236}">
                <a16:creationId xmlns:a16="http://schemas.microsoft.com/office/drawing/2014/main" id="{3862DDD3-8519-4C1F-0E88-5FA7DDDB6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459979"/>
              </p:ext>
            </p:extLst>
          </p:nvPr>
        </p:nvGraphicFramePr>
        <p:xfrm>
          <a:off x="805988" y="1153886"/>
          <a:ext cx="7191383" cy="398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66724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>
          <a:extLst>
            <a:ext uri="{FF2B5EF4-FFF2-40B4-BE49-F238E27FC236}">
              <a16:creationId xmlns:a16="http://schemas.microsoft.com/office/drawing/2014/main" id="{58E79684-7462-64B3-7080-D92228CE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>
            <a:extLst>
              <a:ext uri="{FF2B5EF4-FFF2-40B4-BE49-F238E27FC236}">
                <a16:creationId xmlns:a16="http://schemas.microsoft.com/office/drawing/2014/main" id="{B59EC0A3-03C1-F7EF-826B-548986380E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>
                <a:solidFill>
                  <a:srgbClr val="BD64B5"/>
                </a:solidFill>
              </a:rPr>
              <a:t>Line Chart – </a:t>
            </a:r>
            <a:r>
              <a:rPr lang="en-US" sz="2800" dirty="0">
                <a:solidFill>
                  <a:srgbClr val="BD64B5"/>
                </a:solidFill>
              </a:rPr>
              <a:t>Sorted  Data</a:t>
            </a:r>
            <a:endParaRPr sz="2800" dirty="0">
              <a:solidFill>
                <a:srgbClr val="BD64B5"/>
              </a:solidFill>
            </a:endParaRPr>
          </a:p>
        </p:txBody>
      </p:sp>
      <p:sp>
        <p:nvSpPr>
          <p:cNvPr id="1307" name="Google Shape;1307;p61">
            <a:extLst>
              <a:ext uri="{FF2B5EF4-FFF2-40B4-BE49-F238E27FC236}">
                <a16:creationId xmlns:a16="http://schemas.microsoft.com/office/drawing/2014/main" id="{CFFE51DB-E0F5-F0FD-544D-9435C57E1FCC}"/>
              </a:ext>
            </a:extLst>
          </p:cNvPr>
          <p:cNvSpPr txBox="1"/>
          <p:nvPr/>
        </p:nvSpPr>
        <p:spPr>
          <a:xfrm>
            <a:off x="101288" y="1222863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61">
            <a:extLst>
              <a:ext uri="{FF2B5EF4-FFF2-40B4-BE49-F238E27FC236}">
                <a16:creationId xmlns:a16="http://schemas.microsoft.com/office/drawing/2014/main" id="{A495A68A-9347-48DA-7012-DB880AC5D39B}"/>
              </a:ext>
            </a:extLst>
          </p:cNvPr>
          <p:cNvSpPr txBox="1"/>
          <p:nvPr/>
        </p:nvSpPr>
        <p:spPr>
          <a:xfrm>
            <a:off x="8495700" y="40634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2" name="مخطط 1">
            <a:extLst>
              <a:ext uri="{FF2B5EF4-FFF2-40B4-BE49-F238E27FC236}">
                <a16:creationId xmlns:a16="http://schemas.microsoft.com/office/drawing/2014/main" id="{EDD5D117-CAB8-D74A-400C-22C9F00FE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7941794"/>
              </p:ext>
            </p:extLst>
          </p:nvPr>
        </p:nvGraphicFramePr>
        <p:xfrm>
          <a:off x="805988" y="1153886"/>
          <a:ext cx="7191383" cy="398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03910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04">
          <a:extLst>
            <a:ext uri="{FF2B5EF4-FFF2-40B4-BE49-F238E27FC236}">
              <a16:creationId xmlns:a16="http://schemas.microsoft.com/office/drawing/2014/main" id="{99727C22-2002-3385-25AF-09D80675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>
            <a:extLst>
              <a:ext uri="{FF2B5EF4-FFF2-40B4-BE49-F238E27FC236}">
                <a16:creationId xmlns:a16="http://schemas.microsoft.com/office/drawing/2014/main" id="{2CE5F202-D761-701E-2246-DF64B32EE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>
                <a:solidFill>
                  <a:srgbClr val="BD64B5"/>
                </a:solidFill>
              </a:rPr>
              <a:t>Line Chart – </a:t>
            </a:r>
            <a:r>
              <a:rPr lang="en-US" sz="2800" dirty="0">
                <a:solidFill>
                  <a:srgbClr val="BD64B5"/>
                </a:solidFill>
              </a:rPr>
              <a:t>Reverse Sorted   Data</a:t>
            </a:r>
            <a:endParaRPr sz="2800" dirty="0">
              <a:solidFill>
                <a:srgbClr val="BD64B5"/>
              </a:solidFill>
            </a:endParaRPr>
          </a:p>
        </p:txBody>
      </p:sp>
      <p:sp>
        <p:nvSpPr>
          <p:cNvPr id="1307" name="Google Shape;1307;p61">
            <a:extLst>
              <a:ext uri="{FF2B5EF4-FFF2-40B4-BE49-F238E27FC236}">
                <a16:creationId xmlns:a16="http://schemas.microsoft.com/office/drawing/2014/main" id="{DF7047D5-0673-C183-DC6D-1081E64A4FBB}"/>
              </a:ext>
            </a:extLst>
          </p:cNvPr>
          <p:cNvSpPr txBox="1"/>
          <p:nvPr/>
        </p:nvSpPr>
        <p:spPr>
          <a:xfrm>
            <a:off x="101288" y="1222863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61">
            <a:extLst>
              <a:ext uri="{FF2B5EF4-FFF2-40B4-BE49-F238E27FC236}">
                <a16:creationId xmlns:a16="http://schemas.microsoft.com/office/drawing/2014/main" id="{EFD53463-05EA-83C3-D7BA-3D45CED50409}"/>
              </a:ext>
            </a:extLst>
          </p:cNvPr>
          <p:cNvSpPr txBox="1"/>
          <p:nvPr/>
        </p:nvSpPr>
        <p:spPr>
          <a:xfrm>
            <a:off x="8495700" y="40634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2" name="مخطط 1">
            <a:extLst>
              <a:ext uri="{FF2B5EF4-FFF2-40B4-BE49-F238E27FC236}">
                <a16:creationId xmlns:a16="http://schemas.microsoft.com/office/drawing/2014/main" id="{017C584B-D83E-8C2C-772E-29F859ED8E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7947504"/>
              </p:ext>
            </p:extLst>
          </p:nvPr>
        </p:nvGraphicFramePr>
        <p:xfrm>
          <a:off x="805988" y="1055831"/>
          <a:ext cx="7191383" cy="398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75600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>
          <a:extLst>
            <a:ext uri="{FF2B5EF4-FFF2-40B4-BE49-F238E27FC236}">
              <a16:creationId xmlns:a16="http://schemas.microsoft.com/office/drawing/2014/main" id="{CF64A82B-B931-BF3C-0EBC-762EFD79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>
            <a:extLst>
              <a:ext uri="{FF2B5EF4-FFF2-40B4-BE49-F238E27FC236}">
                <a16:creationId xmlns:a16="http://schemas.microsoft.com/office/drawing/2014/main" id="{1BC431A2-783A-53CA-FB22-E9820F6F3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>
                <a:solidFill>
                  <a:srgbClr val="BD64B5"/>
                </a:solidFill>
              </a:rPr>
              <a:t>Line Chart – </a:t>
            </a:r>
            <a:r>
              <a:rPr lang="en-US" sz="2800" dirty="0">
                <a:solidFill>
                  <a:srgbClr val="BD64B5"/>
                </a:solidFill>
              </a:rPr>
              <a:t>Few Unique   Data</a:t>
            </a:r>
            <a:endParaRPr sz="2800" dirty="0">
              <a:solidFill>
                <a:srgbClr val="BD64B5"/>
              </a:solidFill>
            </a:endParaRPr>
          </a:p>
        </p:txBody>
      </p:sp>
      <p:sp>
        <p:nvSpPr>
          <p:cNvPr id="1307" name="Google Shape;1307;p61">
            <a:extLst>
              <a:ext uri="{FF2B5EF4-FFF2-40B4-BE49-F238E27FC236}">
                <a16:creationId xmlns:a16="http://schemas.microsoft.com/office/drawing/2014/main" id="{1DD9562C-F0CC-728A-184E-D81687889F5A}"/>
              </a:ext>
            </a:extLst>
          </p:cNvPr>
          <p:cNvSpPr txBox="1"/>
          <p:nvPr/>
        </p:nvSpPr>
        <p:spPr>
          <a:xfrm>
            <a:off x="101288" y="1222863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61">
            <a:extLst>
              <a:ext uri="{FF2B5EF4-FFF2-40B4-BE49-F238E27FC236}">
                <a16:creationId xmlns:a16="http://schemas.microsoft.com/office/drawing/2014/main" id="{ACA69110-9884-E82D-C78D-7C1F69D061E2}"/>
              </a:ext>
            </a:extLst>
          </p:cNvPr>
          <p:cNvSpPr txBox="1"/>
          <p:nvPr/>
        </p:nvSpPr>
        <p:spPr>
          <a:xfrm>
            <a:off x="8495700" y="40634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2" name="مخطط 1">
            <a:extLst>
              <a:ext uri="{FF2B5EF4-FFF2-40B4-BE49-F238E27FC236}">
                <a16:creationId xmlns:a16="http://schemas.microsoft.com/office/drawing/2014/main" id="{874A7242-6DBC-D26B-75E6-66879B4E18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2759250"/>
              </p:ext>
            </p:extLst>
          </p:nvPr>
        </p:nvGraphicFramePr>
        <p:xfrm>
          <a:off x="805988" y="1153886"/>
          <a:ext cx="7191383" cy="398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1291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4"/>
          <p:cNvSpPr txBox="1">
            <a:spLocks noGrp="1"/>
          </p:cNvSpPr>
          <p:nvPr>
            <p:ph type="title"/>
          </p:nvPr>
        </p:nvSpPr>
        <p:spPr>
          <a:xfrm>
            <a:off x="4355250" y="1307100"/>
            <a:ext cx="4075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Results </a:t>
            </a:r>
            <a:r>
              <a:rPr lang="en-US" dirty="0">
                <a:solidFill>
                  <a:srgbClr val="FD4A4A"/>
                </a:solidFill>
              </a:rPr>
              <a:t>Summary</a:t>
            </a:r>
            <a:endParaRPr dirty="0">
              <a:solidFill>
                <a:srgbClr val="FD4A4A"/>
              </a:solidFill>
            </a:endParaRPr>
          </a:p>
        </p:txBody>
      </p:sp>
      <p:grpSp>
        <p:nvGrpSpPr>
          <p:cNvPr id="709" name="Google Shape;709;p44"/>
          <p:cNvGrpSpPr/>
          <p:nvPr/>
        </p:nvGrpSpPr>
        <p:grpSpPr>
          <a:xfrm>
            <a:off x="335642" y="696438"/>
            <a:ext cx="2932044" cy="3907563"/>
            <a:chOff x="335642" y="696438"/>
            <a:chExt cx="2932044" cy="3907563"/>
          </a:xfrm>
        </p:grpSpPr>
        <p:sp>
          <p:nvSpPr>
            <p:cNvPr id="710" name="Google Shape;710;p44"/>
            <p:cNvSpPr/>
            <p:nvPr/>
          </p:nvSpPr>
          <p:spPr>
            <a:xfrm>
              <a:off x="335642" y="7050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4"/>
            <p:cNvSpPr/>
            <p:nvPr/>
          </p:nvSpPr>
          <p:spPr>
            <a:xfrm>
              <a:off x="821967" y="6964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4"/>
            <p:cNvSpPr/>
            <p:nvPr/>
          </p:nvSpPr>
          <p:spPr>
            <a:xfrm>
              <a:off x="335642" y="10172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4"/>
            <p:cNvSpPr/>
            <p:nvPr/>
          </p:nvSpPr>
          <p:spPr>
            <a:xfrm>
              <a:off x="335642" y="134395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4"/>
            <p:cNvSpPr/>
            <p:nvPr/>
          </p:nvSpPr>
          <p:spPr>
            <a:xfrm>
              <a:off x="335642" y="16706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4"/>
            <p:cNvSpPr/>
            <p:nvPr/>
          </p:nvSpPr>
          <p:spPr>
            <a:xfrm>
              <a:off x="770496" y="167068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4"/>
            <p:cNvSpPr/>
            <p:nvPr/>
          </p:nvSpPr>
          <p:spPr>
            <a:xfrm>
              <a:off x="1304877" y="16706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4"/>
            <p:cNvSpPr/>
            <p:nvPr/>
          </p:nvSpPr>
          <p:spPr>
            <a:xfrm>
              <a:off x="335642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4"/>
            <p:cNvSpPr/>
            <p:nvPr/>
          </p:nvSpPr>
          <p:spPr>
            <a:xfrm>
              <a:off x="335642" y="23241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4"/>
            <p:cNvSpPr/>
            <p:nvPr/>
          </p:nvSpPr>
          <p:spPr>
            <a:xfrm>
              <a:off x="335642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4"/>
            <p:cNvSpPr/>
            <p:nvPr/>
          </p:nvSpPr>
          <p:spPr>
            <a:xfrm>
              <a:off x="335642" y="2941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4"/>
            <p:cNvSpPr/>
            <p:nvPr/>
          </p:nvSpPr>
          <p:spPr>
            <a:xfrm>
              <a:off x="349364" y="37229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4"/>
            <p:cNvSpPr/>
            <p:nvPr/>
          </p:nvSpPr>
          <p:spPr>
            <a:xfrm>
              <a:off x="770496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4"/>
            <p:cNvSpPr/>
            <p:nvPr/>
          </p:nvSpPr>
          <p:spPr>
            <a:xfrm>
              <a:off x="731557" y="23241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4"/>
            <p:cNvSpPr/>
            <p:nvPr/>
          </p:nvSpPr>
          <p:spPr>
            <a:xfrm>
              <a:off x="770496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4"/>
            <p:cNvSpPr/>
            <p:nvPr/>
          </p:nvSpPr>
          <p:spPr>
            <a:xfrm>
              <a:off x="770496" y="295892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4"/>
            <p:cNvSpPr/>
            <p:nvPr/>
          </p:nvSpPr>
          <p:spPr>
            <a:xfrm>
              <a:off x="770496" y="32848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4"/>
            <p:cNvSpPr/>
            <p:nvPr/>
          </p:nvSpPr>
          <p:spPr>
            <a:xfrm>
              <a:off x="1174186" y="1981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4"/>
            <p:cNvSpPr/>
            <p:nvPr/>
          </p:nvSpPr>
          <p:spPr>
            <a:xfrm>
              <a:off x="1174186" y="232411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4"/>
            <p:cNvSpPr/>
            <p:nvPr/>
          </p:nvSpPr>
          <p:spPr>
            <a:xfrm>
              <a:off x="1205349" y="263303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4"/>
            <p:cNvSpPr/>
            <p:nvPr/>
          </p:nvSpPr>
          <p:spPr>
            <a:xfrm>
              <a:off x="1205349" y="297753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4"/>
            <p:cNvSpPr/>
            <p:nvPr/>
          </p:nvSpPr>
          <p:spPr>
            <a:xfrm>
              <a:off x="1205349" y="328481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4"/>
            <p:cNvSpPr/>
            <p:nvPr/>
          </p:nvSpPr>
          <p:spPr>
            <a:xfrm>
              <a:off x="1883777" y="198126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4"/>
            <p:cNvSpPr/>
            <p:nvPr/>
          </p:nvSpPr>
          <p:spPr>
            <a:xfrm>
              <a:off x="2174096" y="230715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4"/>
            <p:cNvSpPr/>
            <p:nvPr/>
          </p:nvSpPr>
          <p:spPr>
            <a:xfrm>
              <a:off x="2342750" y="2633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4"/>
            <p:cNvSpPr/>
            <p:nvPr/>
          </p:nvSpPr>
          <p:spPr>
            <a:xfrm>
              <a:off x="2342750" y="32848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4"/>
            <p:cNvSpPr/>
            <p:nvPr/>
          </p:nvSpPr>
          <p:spPr>
            <a:xfrm>
              <a:off x="349364" y="3962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4"/>
            <p:cNvSpPr/>
            <p:nvPr/>
          </p:nvSpPr>
          <p:spPr>
            <a:xfrm>
              <a:off x="731557" y="42455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4"/>
            <p:cNvSpPr/>
            <p:nvPr/>
          </p:nvSpPr>
          <p:spPr>
            <a:xfrm>
              <a:off x="1224956" y="4245513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4"/>
            <p:cNvSpPr/>
            <p:nvPr/>
          </p:nvSpPr>
          <p:spPr>
            <a:xfrm>
              <a:off x="1883777" y="4245513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4"/>
            <p:cNvSpPr/>
            <p:nvPr/>
          </p:nvSpPr>
          <p:spPr>
            <a:xfrm>
              <a:off x="2634075" y="4245513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4"/>
            <p:cNvSpPr/>
            <p:nvPr/>
          </p:nvSpPr>
          <p:spPr>
            <a:xfrm>
              <a:off x="731557" y="4454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4"/>
            <p:cNvSpPr/>
            <p:nvPr/>
          </p:nvSpPr>
          <p:spPr>
            <a:xfrm>
              <a:off x="1224956" y="4454038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4"/>
            <p:cNvSpPr/>
            <p:nvPr/>
          </p:nvSpPr>
          <p:spPr>
            <a:xfrm>
              <a:off x="2169156" y="4454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5" name="Google Shape;755;p44"/>
          <p:cNvSpPr txBox="1"/>
          <p:nvPr/>
        </p:nvSpPr>
        <p:spPr>
          <a:xfrm>
            <a:off x="4014788" y="24535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6" name="Google Shape;756;p44"/>
          <p:cNvSpPr txBox="1"/>
          <p:nvPr/>
        </p:nvSpPr>
        <p:spPr>
          <a:xfrm>
            <a:off x="7313175" y="383640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7" name="Google Shape;757;p44"/>
          <p:cNvSpPr txBox="1"/>
          <p:nvPr/>
        </p:nvSpPr>
        <p:spPr>
          <a:xfrm>
            <a:off x="7778275" y="404940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758" name="Google Shape;758;p44"/>
          <p:cNvSpPr txBox="1"/>
          <p:nvPr/>
        </p:nvSpPr>
        <p:spPr>
          <a:xfrm>
            <a:off x="4459138" y="460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54"/>
          <p:cNvGrpSpPr/>
          <p:nvPr/>
        </p:nvGrpSpPr>
        <p:grpSpPr>
          <a:xfrm>
            <a:off x="4698255" y="1260432"/>
            <a:ext cx="3432984" cy="2496295"/>
            <a:chOff x="331763" y="414153"/>
            <a:chExt cx="6903246" cy="5019697"/>
          </a:xfrm>
        </p:grpSpPr>
        <p:sp>
          <p:nvSpPr>
            <p:cNvPr id="1041" name="Google Shape;1041;p54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4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4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4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54"/>
          <p:cNvSpPr txBox="1">
            <a:spLocks noGrp="1"/>
          </p:cNvSpPr>
          <p:nvPr>
            <p:ph type="title"/>
          </p:nvPr>
        </p:nvSpPr>
        <p:spPr>
          <a:xfrm>
            <a:off x="713225" y="1061318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  <a:r>
              <a:rPr lang="en" dirty="0"/>
              <a:t>nsertion sort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047" name="Google Shape;1047;p54"/>
          <p:cNvSpPr txBox="1">
            <a:spLocks noGrp="1"/>
          </p:cNvSpPr>
          <p:nvPr>
            <p:ph type="subTitle" idx="1"/>
          </p:nvPr>
        </p:nvSpPr>
        <p:spPr>
          <a:xfrm>
            <a:off x="252938" y="2158713"/>
            <a:ext cx="3249000" cy="2602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Excellent with sorted data and small datasets </a:t>
            </a:r>
          </a:p>
          <a:p>
            <a:pPr lvl="0" algn="ctr"/>
            <a:r>
              <a:rPr lang="en-US" dirty="0"/>
              <a:t>Very slow with reverse sorted data and large datasets</a:t>
            </a:r>
          </a:p>
          <a:p>
            <a:pPr algn="ctr"/>
            <a:r>
              <a:rPr lang="en-US" dirty="0"/>
              <a:t>Performance deteriorates significantly as data size increases</a:t>
            </a:r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ctr"/>
            <a:endParaRPr lang="en-US" dirty="0"/>
          </a:p>
        </p:txBody>
      </p:sp>
      <p:grpSp>
        <p:nvGrpSpPr>
          <p:cNvPr id="1048" name="Google Shape;1048;p54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049" name="Google Shape;1049;p5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2" name="Google Shape;1052;p54"/>
          <p:cNvSpPr txBox="1"/>
          <p:nvPr/>
        </p:nvSpPr>
        <p:spPr>
          <a:xfrm>
            <a:off x="204125" y="11016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3" name="Google Shape;1053;p54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4" name="Google Shape;1054;p54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grpSp>
        <p:nvGrpSpPr>
          <p:cNvPr id="1055" name="Google Shape;1055;p54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1056" name="Google Shape;1056;p54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54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54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54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54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54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54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54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54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54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54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54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54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صورة 3" descr="صورة تحتوي على نص, لقطة شاشة, الخط, رق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2C23D25-F7B9-6A7E-8A3A-BF81008B2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41" y="1353014"/>
            <a:ext cx="3218604" cy="19800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>
          <a:extLst>
            <a:ext uri="{FF2B5EF4-FFF2-40B4-BE49-F238E27FC236}">
              <a16:creationId xmlns:a16="http://schemas.microsoft.com/office/drawing/2014/main" id="{9884674C-DE6C-EA67-E9DC-C93BCF1E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54">
            <a:extLst>
              <a:ext uri="{FF2B5EF4-FFF2-40B4-BE49-F238E27FC236}">
                <a16:creationId xmlns:a16="http://schemas.microsoft.com/office/drawing/2014/main" id="{27758782-4CDF-13CF-1D09-E9CFC68F37E9}"/>
              </a:ext>
            </a:extLst>
          </p:cNvPr>
          <p:cNvGrpSpPr/>
          <p:nvPr/>
        </p:nvGrpSpPr>
        <p:grpSpPr>
          <a:xfrm>
            <a:off x="4698255" y="1260432"/>
            <a:ext cx="3432984" cy="2496295"/>
            <a:chOff x="331763" y="414153"/>
            <a:chExt cx="6903246" cy="5019697"/>
          </a:xfrm>
        </p:grpSpPr>
        <p:sp>
          <p:nvSpPr>
            <p:cNvPr id="1041" name="Google Shape;1041;p54">
              <a:extLst>
                <a:ext uri="{FF2B5EF4-FFF2-40B4-BE49-F238E27FC236}">
                  <a16:creationId xmlns:a16="http://schemas.microsoft.com/office/drawing/2014/main" id="{43B5AE4E-62DF-49C1-4312-AAE89EAE48FE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4">
              <a:extLst>
                <a:ext uri="{FF2B5EF4-FFF2-40B4-BE49-F238E27FC236}">
                  <a16:creationId xmlns:a16="http://schemas.microsoft.com/office/drawing/2014/main" id="{39BDC839-0FEF-79B2-5265-62FF31CFCFAC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4">
              <a:extLst>
                <a:ext uri="{FF2B5EF4-FFF2-40B4-BE49-F238E27FC236}">
                  <a16:creationId xmlns:a16="http://schemas.microsoft.com/office/drawing/2014/main" id="{6B4BE341-25D9-FFDE-A531-2E2C5CE0EFCD}"/>
                </a:ext>
              </a:extLst>
            </p:cNvPr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4">
              <a:extLst>
                <a:ext uri="{FF2B5EF4-FFF2-40B4-BE49-F238E27FC236}">
                  <a16:creationId xmlns:a16="http://schemas.microsoft.com/office/drawing/2014/main" id="{E3BC3FFB-D9B1-3EA7-4675-8FB2206DE6CB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54">
            <a:extLst>
              <a:ext uri="{FF2B5EF4-FFF2-40B4-BE49-F238E27FC236}">
                <a16:creationId xmlns:a16="http://schemas.microsoft.com/office/drawing/2014/main" id="{21027BE8-4B52-1359-8C7F-EF9BFBEFB9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1061318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Merge </a:t>
            </a:r>
            <a:br>
              <a:rPr lang="en-US" dirty="0"/>
            </a:br>
            <a:r>
              <a:rPr lang="en" dirty="0"/>
              <a:t>sort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047" name="Google Shape;1047;p54">
            <a:extLst>
              <a:ext uri="{FF2B5EF4-FFF2-40B4-BE49-F238E27FC236}">
                <a16:creationId xmlns:a16="http://schemas.microsoft.com/office/drawing/2014/main" id="{FC616A2C-1947-6E42-C641-7ABE143733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938" y="2158713"/>
            <a:ext cx="3249000" cy="2602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Consistent performance with all data types</a:t>
            </a:r>
          </a:p>
          <a:p>
            <a:pPr lvl="0" algn="ctr"/>
            <a:endParaRPr lang="en-US" dirty="0"/>
          </a:p>
          <a:p>
            <a:pPr lvl="0" algn="ctr"/>
            <a:r>
              <a:rPr lang="en-US" dirty="0"/>
              <a:t>Unaffected by data sorting</a:t>
            </a:r>
          </a:p>
          <a:p>
            <a:pPr lvl="0" algn="ctr"/>
            <a:endParaRPr lang="en-US" dirty="0"/>
          </a:p>
          <a:p>
            <a:pPr lvl="0" algn="ctr"/>
            <a:r>
              <a:rPr lang="en-US" dirty="0"/>
              <a:t>Suitable for large datasets and performance-sensitive systems</a:t>
            </a:r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ctr"/>
            <a:endParaRPr lang="en-US" dirty="0"/>
          </a:p>
        </p:txBody>
      </p:sp>
      <p:grpSp>
        <p:nvGrpSpPr>
          <p:cNvPr id="1048" name="Google Shape;1048;p54">
            <a:extLst>
              <a:ext uri="{FF2B5EF4-FFF2-40B4-BE49-F238E27FC236}">
                <a16:creationId xmlns:a16="http://schemas.microsoft.com/office/drawing/2014/main" id="{DBDF83AA-E0EA-940C-9228-0E7A6D624F68}"/>
              </a:ext>
            </a:extLst>
          </p:cNvPr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049" name="Google Shape;1049;p54">
              <a:extLst>
                <a:ext uri="{FF2B5EF4-FFF2-40B4-BE49-F238E27FC236}">
                  <a16:creationId xmlns:a16="http://schemas.microsoft.com/office/drawing/2014/main" id="{15D6DEF8-73F4-8696-CBA1-6D1403A18F47}"/>
                </a:ext>
              </a:extLst>
            </p:cNvPr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4">
              <a:extLst>
                <a:ext uri="{FF2B5EF4-FFF2-40B4-BE49-F238E27FC236}">
                  <a16:creationId xmlns:a16="http://schemas.microsoft.com/office/drawing/2014/main" id="{9E4EA571-E062-E22B-C6BA-3CD1003DF5F2}"/>
                </a:ext>
              </a:extLst>
            </p:cNvPr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4">
              <a:extLst>
                <a:ext uri="{FF2B5EF4-FFF2-40B4-BE49-F238E27FC236}">
                  <a16:creationId xmlns:a16="http://schemas.microsoft.com/office/drawing/2014/main" id="{1962B465-5CB3-99C0-713C-5F2E32BF528F}"/>
                </a:ext>
              </a:extLst>
            </p:cNvPr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2" name="Google Shape;1052;p54">
            <a:extLst>
              <a:ext uri="{FF2B5EF4-FFF2-40B4-BE49-F238E27FC236}">
                <a16:creationId xmlns:a16="http://schemas.microsoft.com/office/drawing/2014/main" id="{FB10D110-F950-54B8-3724-FBFF85336737}"/>
              </a:ext>
            </a:extLst>
          </p:cNvPr>
          <p:cNvSpPr txBox="1"/>
          <p:nvPr/>
        </p:nvSpPr>
        <p:spPr>
          <a:xfrm>
            <a:off x="204125" y="11016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3" name="Google Shape;1053;p54">
            <a:extLst>
              <a:ext uri="{FF2B5EF4-FFF2-40B4-BE49-F238E27FC236}">
                <a16:creationId xmlns:a16="http://schemas.microsoft.com/office/drawing/2014/main" id="{55B1CD15-803B-CFB3-DEFE-43531DFA0491}"/>
              </a:ext>
            </a:extLst>
          </p:cNvPr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4" name="Google Shape;1054;p54">
            <a:extLst>
              <a:ext uri="{FF2B5EF4-FFF2-40B4-BE49-F238E27FC236}">
                <a16:creationId xmlns:a16="http://schemas.microsoft.com/office/drawing/2014/main" id="{CC56B544-0FF4-0B17-2C83-2C32E073B3F9}"/>
              </a:ext>
            </a:extLst>
          </p:cNvPr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grpSp>
        <p:nvGrpSpPr>
          <p:cNvPr id="1055" name="Google Shape;1055;p54">
            <a:extLst>
              <a:ext uri="{FF2B5EF4-FFF2-40B4-BE49-F238E27FC236}">
                <a16:creationId xmlns:a16="http://schemas.microsoft.com/office/drawing/2014/main" id="{3AA53DF5-1BD8-FDCD-200D-54673AE9E960}"/>
              </a:ext>
            </a:extLst>
          </p:cNvPr>
          <p:cNvGrpSpPr/>
          <p:nvPr/>
        </p:nvGrpSpPr>
        <p:grpSpPr>
          <a:xfrm>
            <a:off x="94186" y="4060938"/>
            <a:ext cx="2536147" cy="887325"/>
            <a:chOff x="880714" y="3731738"/>
            <a:chExt cx="2536147" cy="887325"/>
          </a:xfrm>
        </p:grpSpPr>
        <p:sp>
          <p:nvSpPr>
            <p:cNvPr id="1056" name="Google Shape;1056;p54">
              <a:extLst>
                <a:ext uri="{FF2B5EF4-FFF2-40B4-BE49-F238E27FC236}">
                  <a16:creationId xmlns:a16="http://schemas.microsoft.com/office/drawing/2014/main" id="{24BF4345-A7CD-3213-33DC-E56F90DBE472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54">
              <a:extLst>
                <a:ext uri="{FF2B5EF4-FFF2-40B4-BE49-F238E27FC236}">
                  <a16:creationId xmlns:a16="http://schemas.microsoft.com/office/drawing/2014/main" id="{DE667562-119D-7821-0B4C-4258BEC946D6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54">
              <a:extLst>
                <a:ext uri="{FF2B5EF4-FFF2-40B4-BE49-F238E27FC236}">
                  <a16:creationId xmlns:a16="http://schemas.microsoft.com/office/drawing/2014/main" id="{119B0B0F-DE49-5BC0-A514-B080D44D7B81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54">
              <a:extLst>
                <a:ext uri="{FF2B5EF4-FFF2-40B4-BE49-F238E27FC236}">
                  <a16:creationId xmlns:a16="http://schemas.microsoft.com/office/drawing/2014/main" id="{8D41250C-A567-D88B-0ED1-E59458E3A98A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54">
              <a:extLst>
                <a:ext uri="{FF2B5EF4-FFF2-40B4-BE49-F238E27FC236}">
                  <a16:creationId xmlns:a16="http://schemas.microsoft.com/office/drawing/2014/main" id="{8E513DB9-D35D-DB5B-B731-3A783D7BACF2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54">
              <a:extLst>
                <a:ext uri="{FF2B5EF4-FFF2-40B4-BE49-F238E27FC236}">
                  <a16:creationId xmlns:a16="http://schemas.microsoft.com/office/drawing/2014/main" id="{263062B9-D750-C1DE-B568-25DBE8BF5E9C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54">
              <a:extLst>
                <a:ext uri="{FF2B5EF4-FFF2-40B4-BE49-F238E27FC236}">
                  <a16:creationId xmlns:a16="http://schemas.microsoft.com/office/drawing/2014/main" id="{4F9BB644-3F9D-57DD-1D6D-ED3E4FA7D6DC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54">
              <a:extLst>
                <a:ext uri="{FF2B5EF4-FFF2-40B4-BE49-F238E27FC236}">
                  <a16:creationId xmlns:a16="http://schemas.microsoft.com/office/drawing/2014/main" id="{DE7FBBBA-7755-95E3-DA9A-A4A6739C0C28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54">
              <a:extLst>
                <a:ext uri="{FF2B5EF4-FFF2-40B4-BE49-F238E27FC236}">
                  <a16:creationId xmlns:a16="http://schemas.microsoft.com/office/drawing/2014/main" id="{B103F97E-C205-3C38-949A-02278C746D56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54">
              <a:extLst>
                <a:ext uri="{FF2B5EF4-FFF2-40B4-BE49-F238E27FC236}">
                  <a16:creationId xmlns:a16="http://schemas.microsoft.com/office/drawing/2014/main" id="{216D9163-D67B-30A2-6FDB-8301DF3E4A27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54">
              <a:extLst>
                <a:ext uri="{FF2B5EF4-FFF2-40B4-BE49-F238E27FC236}">
                  <a16:creationId xmlns:a16="http://schemas.microsoft.com/office/drawing/2014/main" id="{F5EC270E-526A-993F-842A-7FB64C7652DF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54">
              <a:extLst>
                <a:ext uri="{FF2B5EF4-FFF2-40B4-BE49-F238E27FC236}">
                  <a16:creationId xmlns:a16="http://schemas.microsoft.com/office/drawing/2014/main" id="{5485EB00-9147-BD1B-4567-FB6E635BA504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54">
              <a:extLst>
                <a:ext uri="{FF2B5EF4-FFF2-40B4-BE49-F238E27FC236}">
                  <a16:creationId xmlns:a16="http://schemas.microsoft.com/office/drawing/2014/main" id="{D52C7747-83BA-CF9C-AC58-9486698B6639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صورة 2" descr="صورة تحتوي على نص, لقطة شاشة, الخط, المستند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CBFBB957-20B8-4382-8344-888204F54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812" y="1362182"/>
            <a:ext cx="3218605" cy="19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>
          <a:extLst>
            <a:ext uri="{FF2B5EF4-FFF2-40B4-BE49-F238E27FC236}">
              <a16:creationId xmlns:a16="http://schemas.microsoft.com/office/drawing/2014/main" id="{0DFB6D56-C3D7-92CD-5455-07D3BE8C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54">
            <a:extLst>
              <a:ext uri="{FF2B5EF4-FFF2-40B4-BE49-F238E27FC236}">
                <a16:creationId xmlns:a16="http://schemas.microsoft.com/office/drawing/2014/main" id="{13878457-46BE-87DB-2BC9-B9F000126630}"/>
              </a:ext>
            </a:extLst>
          </p:cNvPr>
          <p:cNvGrpSpPr/>
          <p:nvPr/>
        </p:nvGrpSpPr>
        <p:grpSpPr>
          <a:xfrm>
            <a:off x="4698255" y="1260432"/>
            <a:ext cx="3432984" cy="2496295"/>
            <a:chOff x="331763" y="414153"/>
            <a:chExt cx="6903246" cy="5019697"/>
          </a:xfrm>
        </p:grpSpPr>
        <p:sp>
          <p:nvSpPr>
            <p:cNvPr id="1041" name="Google Shape;1041;p54">
              <a:extLst>
                <a:ext uri="{FF2B5EF4-FFF2-40B4-BE49-F238E27FC236}">
                  <a16:creationId xmlns:a16="http://schemas.microsoft.com/office/drawing/2014/main" id="{23C2B88D-656E-1252-FB3B-AF09BBB08CBE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4">
              <a:extLst>
                <a:ext uri="{FF2B5EF4-FFF2-40B4-BE49-F238E27FC236}">
                  <a16:creationId xmlns:a16="http://schemas.microsoft.com/office/drawing/2014/main" id="{7987CB89-29D3-E133-9D49-FA1A26948103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4">
              <a:extLst>
                <a:ext uri="{FF2B5EF4-FFF2-40B4-BE49-F238E27FC236}">
                  <a16:creationId xmlns:a16="http://schemas.microsoft.com/office/drawing/2014/main" id="{57230540-50DA-971D-CB8E-26F7EE0F2C25}"/>
                </a:ext>
              </a:extLst>
            </p:cNvPr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4">
              <a:extLst>
                <a:ext uri="{FF2B5EF4-FFF2-40B4-BE49-F238E27FC236}">
                  <a16:creationId xmlns:a16="http://schemas.microsoft.com/office/drawing/2014/main" id="{59A559D6-84EB-309F-B324-300C127C6886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54">
            <a:extLst>
              <a:ext uri="{FF2B5EF4-FFF2-40B4-BE49-F238E27FC236}">
                <a16:creationId xmlns:a16="http://schemas.microsoft.com/office/drawing/2014/main" id="{33AB393B-6DF6-B755-1465-C146EE0F89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1061318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 </a:t>
            </a:r>
            <a:br>
              <a:rPr lang="en-US" dirty="0"/>
            </a:br>
            <a:r>
              <a:rPr lang="en" dirty="0"/>
              <a:t>sort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047" name="Google Shape;1047;p54">
            <a:extLst>
              <a:ext uri="{FF2B5EF4-FFF2-40B4-BE49-F238E27FC236}">
                <a16:creationId xmlns:a16="http://schemas.microsoft.com/office/drawing/2014/main" id="{EB8FEC42-1ADD-D953-CF68-1232379AEF1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938" y="2158713"/>
            <a:ext cx="3249000" cy="2006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Stable performance, similar to Merge Sort</a:t>
            </a:r>
          </a:p>
          <a:p>
            <a:pPr lvl="0" algn="ctr"/>
            <a:endParaRPr lang="en-US" dirty="0"/>
          </a:p>
          <a:p>
            <a:pPr lvl="0" algn="ctr"/>
            <a:r>
              <a:rPr lang="en-US" dirty="0"/>
              <a:t>Less affected by data type</a:t>
            </a:r>
          </a:p>
          <a:p>
            <a:pPr lvl="0" algn="ctr"/>
            <a:endParaRPr lang="en-US" dirty="0"/>
          </a:p>
          <a:p>
            <a:pPr lvl="0" algn="ctr"/>
            <a:r>
              <a:rPr lang="en-US" dirty="0"/>
              <a:t>Slightly slower than Quick Sort in some cases</a:t>
            </a:r>
          </a:p>
          <a:p>
            <a:pPr lvl="0" algn="ctr"/>
            <a:endParaRPr lang="en-US" dirty="0"/>
          </a:p>
          <a:p>
            <a:pPr lvl="0" algn="ctr"/>
            <a:endParaRPr lang="en-US" dirty="0"/>
          </a:p>
        </p:txBody>
      </p:sp>
      <p:grpSp>
        <p:nvGrpSpPr>
          <p:cNvPr id="1048" name="Google Shape;1048;p54">
            <a:extLst>
              <a:ext uri="{FF2B5EF4-FFF2-40B4-BE49-F238E27FC236}">
                <a16:creationId xmlns:a16="http://schemas.microsoft.com/office/drawing/2014/main" id="{A02DF780-8165-60E2-4ACB-B3EB6711C268}"/>
              </a:ext>
            </a:extLst>
          </p:cNvPr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049" name="Google Shape;1049;p54">
              <a:extLst>
                <a:ext uri="{FF2B5EF4-FFF2-40B4-BE49-F238E27FC236}">
                  <a16:creationId xmlns:a16="http://schemas.microsoft.com/office/drawing/2014/main" id="{076DF886-D29C-B584-52FE-E64ECD7D96F9}"/>
                </a:ext>
              </a:extLst>
            </p:cNvPr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4">
              <a:extLst>
                <a:ext uri="{FF2B5EF4-FFF2-40B4-BE49-F238E27FC236}">
                  <a16:creationId xmlns:a16="http://schemas.microsoft.com/office/drawing/2014/main" id="{048BE55C-FA3F-5E73-AB3B-762BAA146553}"/>
                </a:ext>
              </a:extLst>
            </p:cNvPr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4">
              <a:extLst>
                <a:ext uri="{FF2B5EF4-FFF2-40B4-BE49-F238E27FC236}">
                  <a16:creationId xmlns:a16="http://schemas.microsoft.com/office/drawing/2014/main" id="{AE14320F-8521-4CAD-37F3-7AC7E0896308}"/>
                </a:ext>
              </a:extLst>
            </p:cNvPr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2" name="Google Shape;1052;p54">
            <a:extLst>
              <a:ext uri="{FF2B5EF4-FFF2-40B4-BE49-F238E27FC236}">
                <a16:creationId xmlns:a16="http://schemas.microsoft.com/office/drawing/2014/main" id="{5F3ADE70-86AD-0481-F757-CB8B29E8A23C}"/>
              </a:ext>
            </a:extLst>
          </p:cNvPr>
          <p:cNvSpPr txBox="1"/>
          <p:nvPr/>
        </p:nvSpPr>
        <p:spPr>
          <a:xfrm>
            <a:off x="204125" y="11016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3" name="Google Shape;1053;p54">
            <a:extLst>
              <a:ext uri="{FF2B5EF4-FFF2-40B4-BE49-F238E27FC236}">
                <a16:creationId xmlns:a16="http://schemas.microsoft.com/office/drawing/2014/main" id="{42E3D916-2FBB-984F-E818-99CD90BE2281}"/>
              </a:ext>
            </a:extLst>
          </p:cNvPr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4" name="Google Shape;1054;p54">
            <a:extLst>
              <a:ext uri="{FF2B5EF4-FFF2-40B4-BE49-F238E27FC236}">
                <a16:creationId xmlns:a16="http://schemas.microsoft.com/office/drawing/2014/main" id="{7B6A7DAD-DCC0-AA00-F383-D0CAFB499B9B}"/>
              </a:ext>
            </a:extLst>
          </p:cNvPr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 dirty="0">
              <a:solidFill>
                <a:schemeClr val="accent2"/>
              </a:solidFill>
            </a:endParaRPr>
          </a:p>
        </p:txBody>
      </p:sp>
      <p:grpSp>
        <p:nvGrpSpPr>
          <p:cNvPr id="1055" name="Google Shape;1055;p54">
            <a:extLst>
              <a:ext uri="{FF2B5EF4-FFF2-40B4-BE49-F238E27FC236}">
                <a16:creationId xmlns:a16="http://schemas.microsoft.com/office/drawing/2014/main" id="{CE9230E3-AD1B-0588-686C-7D46A8511A72}"/>
              </a:ext>
            </a:extLst>
          </p:cNvPr>
          <p:cNvGrpSpPr/>
          <p:nvPr/>
        </p:nvGrpSpPr>
        <p:grpSpPr>
          <a:xfrm>
            <a:off x="311228" y="3966514"/>
            <a:ext cx="2536147" cy="887325"/>
            <a:chOff x="880714" y="3731738"/>
            <a:chExt cx="2536147" cy="887325"/>
          </a:xfrm>
        </p:grpSpPr>
        <p:sp>
          <p:nvSpPr>
            <p:cNvPr id="1056" name="Google Shape;1056;p54">
              <a:extLst>
                <a:ext uri="{FF2B5EF4-FFF2-40B4-BE49-F238E27FC236}">
                  <a16:creationId xmlns:a16="http://schemas.microsoft.com/office/drawing/2014/main" id="{03835590-894A-5ED9-A927-51D978FA93D4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54">
              <a:extLst>
                <a:ext uri="{FF2B5EF4-FFF2-40B4-BE49-F238E27FC236}">
                  <a16:creationId xmlns:a16="http://schemas.microsoft.com/office/drawing/2014/main" id="{3933902A-A19D-7F71-A5F5-F7BD8B3A3492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54">
              <a:extLst>
                <a:ext uri="{FF2B5EF4-FFF2-40B4-BE49-F238E27FC236}">
                  <a16:creationId xmlns:a16="http://schemas.microsoft.com/office/drawing/2014/main" id="{7AD34B4C-CC3F-09AB-03BC-07B4C04CAB00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54">
              <a:extLst>
                <a:ext uri="{FF2B5EF4-FFF2-40B4-BE49-F238E27FC236}">
                  <a16:creationId xmlns:a16="http://schemas.microsoft.com/office/drawing/2014/main" id="{4E2A31A3-F650-7A69-A9A4-8F290110F83A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54">
              <a:extLst>
                <a:ext uri="{FF2B5EF4-FFF2-40B4-BE49-F238E27FC236}">
                  <a16:creationId xmlns:a16="http://schemas.microsoft.com/office/drawing/2014/main" id="{09AC3AD3-8F6C-6478-62EE-0D7F51FFDA41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54">
              <a:extLst>
                <a:ext uri="{FF2B5EF4-FFF2-40B4-BE49-F238E27FC236}">
                  <a16:creationId xmlns:a16="http://schemas.microsoft.com/office/drawing/2014/main" id="{AB39B8DE-81D1-3E71-FC90-0281DB0D2CCC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54">
              <a:extLst>
                <a:ext uri="{FF2B5EF4-FFF2-40B4-BE49-F238E27FC236}">
                  <a16:creationId xmlns:a16="http://schemas.microsoft.com/office/drawing/2014/main" id="{CE326D8C-D21F-0878-6698-2B4A6788271D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54">
              <a:extLst>
                <a:ext uri="{FF2B5EF4-FFF2-40B4-BE49-F238E27FC236}">
                  <a16:creationId xmlns:a16="http://schemas.microsoft.com/office/drawing/2014/main" id="{057557D3-F361-AA22-6297-5030503361DD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54">
              <a:extLst>
                <a:ext uri="{FF2B5EF4-FFF2-40B4-BE49-F238E27FC236}">
                  <a16:creationId xmlns:a16="http://schemas.microsoft.com/office/drawing/2014/main" id="{41D64D80-FDE9-D6B4-B154-BD165A417564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54">
              <a:extLst>
                <a:ext uri="{FF2B5EF4-FFF2-40B4-BE49-F238E27FC236}">
                  <a16:creationId xmlns:a16="http://schemas.microsoft.com/office/drawing/2014/main" id="{FC35101B-D72E-08F8-763F-A739C9EE282C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54">
              <a:extLst>
                <a:ext uri="{FF2B5EF4-FFF2-40B4-BE49-F238E27FC236}">
                  <a16:creationId xmlns:a16="http://schemas.microsoft.com/office/drawing/2014/main" id="{3CAC1107-1F38-8BDF-E0A5-133B595529EB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54">
              <a:extLst>
                <a:ext uri="{FF2B5EF4-FFF2-40B4-BE49-F238E27FC236}">
                  <a16:creationId xmlns:a16="http://schemas.microsoft.com/office/drawing/2014/main" id="{1F8CB0CE-B8DF-038B-BD23-CF7E4C63EAB9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54">
              <a:extLst>
                <a:ext uri="{FF2B5EF4-FFF2-40B4-BE49-F238E27FC236}">
                  <a16:creationId xmlns:a16="http://schemas.microsoft.com/office/drawing/2014/main" id="{69779995-F101-BCF4-A46C-D3A2880CF61B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صورة 3" descr="صورة تحتوي على نص, لقطة شاشة, الخط, رق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DDCEA157-88B6-AB1B-67C9-8E58E99FF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42" y="1353014"/>
            <a:ext cx="3225400" cy="19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3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>
          <a:extLst>
            <a:ext uri="{FF2B5EF4-FFF2-40B4-BE49-F238E27FC236}">
              <a16:creationId xmlns:a16="http://schemas.microsoft.com/office/drawing/2014/main" id="{67F15DF0-4DB8-DC7F-206C-B06A66B11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54">
            <a:extLst>
              <a:ext uri="{FF2B5EF4-FFF2-40B4-BE49-F238E27FC236}">
                <a16:creationId xmlns:a16="http://schemas.microsoft.com/office/drawing/2014/main" id="{80A209D4-CDEE-60EE-9C98-E6FBE7C7B1D4}"/>
              </a:ext>
            </a:extLst>
          </p:cNvPr>
          <p:cNvGrpSpPr/>
          <p:nvPr/>
        </p:nvGrpSpPr>
        <p:grpSpPr>
          <a:xfrm>
            <a:off x="4698255" y="1260432"/>
            <a:ext cx="3432984" cy="2496295"/>
            <a:chOff x="331763" y="414153"/>
            <a:chExt cx="6903246" cy="5019697"/>
          </a:xfrm>
        </p:grpSpPr>
        <p:sp>
          <p:nvSpPr>
            <p:cNvPr id="1041" name="Google Shape;1041;p54">
              <a:extLst>
                <a:ext uri="{FF2B5EF4-FFF2-40B4-BE49-F238E27FC236}">
                  <a16:creationId xmlns:a16="http://schemas.microsoft.com/office/drawing/2014/main" id="{F183DD79-1C54-9A18-E2B9-279F5E259E2D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4">
              <a:extLst>
                <a:ext uri="{FF2B5EF4-FFF2-40B4-BE49-F238E27FC236}">
                  <a16:creationId xmlns:a16="http://schemas.microsoft.com/office/drawing/2014/main" id="{FEA8AAC9-B5F4-FC85-FDAD-1F103CD8DEC5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4">
              <a:extLst>
                <a:ext uri="{FF2B5EF4-FFF2-40B4-BE49-F238E27FC236}">
                  <a16:creationId xmlns:a16="http://schemas.microsoft.com/office/drawing/2014/main" id="{52F1B4C2-D6B0-D541-9F32-9034A90E9BDC}"/>
                </a:ext>
              </a:extLst>
            </p:cNvPr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4">
              <a:extLst>
                <a:ext uri="{FF2B5EF4-FFF2-40B4-BE49-F238E27FC236}">
                  <a16:creationId xmlns:a16="http://schemas.microsoft.com/office/drawing/2014/main" id="{C59405AE-0296-9D07-C270-61431F4768FC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54">
            <a:extLst>
              <a:ext uri="{FF2B5EF4-FFF2-40B4-BE49-F238E27FC236}">
                <a16:creationId xmlns:a16="http://schemas.microsoft.com/office/drawing/2014/main" id="{5DCB6298-371C-1762-FA83-59CBCE693B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1061318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Quick </a:t>
            </a:r>
            <a:br>
              <a:rPr lang="en-US" dirty="0"/>
            </a:br>
            <a:r>
              <a:rPr lang="en" dirty="0"/>
              <a:t>sort 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047" name="Google Shape;1047;p54">
            <a:extLst>
              <a:ext uri="{FF2B5EF4-FFF2-40B4-BE49-F238E27FC236}">
                <a16:creationId xmlns:a16="http://schemas.microsoft.com/office/drawing/2014/main" id="{EC7BA839-7A14-79C4-25BD-DFAC23A9796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938" y="2158713"/>
            <a:ext cx="3249000" cy="2006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Overall fastest in most scenarios</a:t>
            </a:r>
          </a:p>
          <a:p>
            <a:pPr lvl="0" algn="ctr"/>
            <a:r>
              <a:rPr lang="en-US" dirty="0"/>
              <a:t>Excellent performance with random data and few unique datasets</a:t>
            </a:r>
          </a:p>
          <a:p>
            <a:pPr lvl="0" algn="ctr"/>
            <a:r>
              <a:rPr lang="en-US" dirty="0"/>
              <a:t>Avoids worst-case scenarios thanks to random pivot selection</a:t>
            </a:r>
          </a:p>
          <a:p>
            <a:pPr lvl="0" algn="ctr"/>
            <a:endParaRPr lang="en-US" dirty="0"/>
          </a:p>
        </p:txBody>
      </p:sp>
      <p:grpSp>
        <p:nvGrpSpPr>
          <p:cNvPr id="1048" name="Google Shape;1048;p54">
            <a:extLst>
              <a:ext uri="{FF2B5EF4-FFF2-40B4-BE49-F238E27FC236}">
                <a16:creationId xmlns:a16="http://schemas.microsoft.com/office/drawing/2014/main" id="{C119B3A8-8FF5-3690-A569-71977A125A10}"/>
              </a:ext>
            </a:extLst>
          </p:cNvPr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049" name="Google Shape;1049;p54">
              <a:extLst>
                <a:ext uri="{FF2B5EF4-FFF2-40B4-BE49-F238E27FC236}">
                  <a16:creationId xmlns:a16="http://schemas.microsoft.com/office/drawing/2014/main" id="{5C7EB768-E55B-34F3-075A-52D0B571B652}"/>
                </a:ext>
              </a:extLst>
            </p:cNvPr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4">
              <a:extLst>
                <a:ext uri="{FF2B5EF4-FFF2-40B4-BE49-F238E27FC236}">
                  <a16:creationId xmlns:a16="http://schemas.microsoft.com/office/drawing/2014/main" id="{4BB1F175-89D2-057B-8D5E-9EB54E938E65}"/>
                </a:ext>
              </a:extLst>
            </p:cNvPr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4">
              <a:extLst>
                <a:ext uri="{FF2B5EF4-FFF2-40B4-BE49-F238E27FC236}">
                  <a16:creationId xmlns:a16="http://schemas.microsoft.com/office/drawing/2014/main" id="{D84A78E4-6122-D232-D743-FA971EE94FCF}"/>
                </a:ext>
              </a:extLst>
            </p:cNvPr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2" name="Google Shape;1052;p54">
            <a:extLst>
              <a:ext uri="{FF2B5EF4-FFF2-40B4-BE49-F238E27FC236}">
                <a16:creationId xmlns:a16="http://schemas.microsoft.com/office/drawing/2014/main" id="{F9941729-7E78-69F2-DF34-FDB53F562342}"/>
              </a:ext>
            </a:extLst>
          </p:cNvPr>
          <p:cNvSpPr txBox="1"/>
          <p:nvPr/>
        </p:nvSpPr>
        <p:spPr>
          <a:xfrm>
            <a:off x="204125" y="11016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3" name="Google Shape;1053;p54">
            <a:extLst>
              <a:ext uri="{FF2B5EF4-FFF2-40B4-BE49-F238E27FC236}">
                <a16:creationId xmlns:a16="http://schemas.microsoft.com/office/drawing/2014/main" id="{5CEF509F-3513-810D-0A48-55FD75F51972}"/>
              </a:ext>
            </a:extLst>
          </p:cNvPr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4" name="Google Shape;1054;p54">
            <a:extLst>
              <a:ext uri="{FF2B5EF4-FFF2-40B4-BE49-F238E27FC236}">
                <a16:creationId xmlns:a16="http://schemas.microsoft.com/office/drawing/2014/main" id="{F409EC69-41DE-C293-6351-287047642D60}"/>
              </a:ext>
            </a:extLst>
          </p:cNvPr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 dirty="0">
              <a:solidFill>
                <a:schemeClr val="accent2"/>
              </a:solidFill>
            </a:endParaRPr>
          </a:p>
        </p:txBody>
      </p:sp>
      <p:grpSp>
        <p:nvGrpSpPr>
          <p:cNvPr id="1055" name="Google Shape;1055;p54">
            <a:extLst>
              <a:ext uri="{FF2B5EF4-FFF2-40B4-BE49-F238E27FC236}">
                <a16:creationId xmlns:a16="http://schemas.microsoft.com/office/drawing/2014/main" id="{7CE86D4E-DAD0-75CA-3E47-070A11650BD7}"/>
              </a:ext>
            </a:extLst>
          </p:cNvPr>
          <p:cNvGrpSpPr/>
          <p:nvPr/>
        </p:nvGrpSpPr>
        <p:grpSpPr>
          <a:xfrm>
            <a:off x="311228" y="3966514"/>
            <a:ext cx="2536147" cy="887325"/>
            <a:chOff x="880714" y="3731738"/>
            <a:chExt cx="2536147" cy="887325"/>
          </a:xfrm>
        </p:grpSpPr>
        <p:sp>
          <p:nvSpPr>
            <p:cNvPr id="1056" name="Google Shape;1056;p54">
              <a:extLst>
                <a:ext uri="{FF2B5EF4-FFF2-40B4-BE49-F238E27FC236}">
                  <a16:creationId xmlns:a16="http://schemas.microsoft.com/office/drawing/2014/main" id="{EC7B510F-9448-BBB3-E912-C62F44B56E6D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54">
              <a:extLst>
                <a:ext uri="{FF2B5EF4-FFF2-40B4-BE49-F238E27FC236}">
                  <a16:creationId xmlns:a16="http://schemas.microsoft.com/office/drawing/2014/main" id="{FDD8E019-0291-0302-E3B4-9DB348003D6F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54">
              <a:extLst>
                <a:ext uri="{FF2B5EF4-FFF2-40B4-BE49-F238E27FC236}">
                  <a16:creationId xmlns:a16="http://schemas.microsoft.com/office/drawing/2014/main" id="{05C9B6F8-8A1F-BD93-9AC9-9C2B0AF9C528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54">
              <a:extLst>
                <a:ext uri="{FF2B5EF4-FFF2-40B4-BE49-F238E27FC236}">
                  <a16:creationId xmlns:a16="http://schemas.microsoft.com/office/drawing/2014/main" id="{7B99D513-EB03-7AFD-64D4-E7F0F172CC6E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54">
              <a:extLst>
                <a:ext uri="{FF2B5EF4-FFF2-40B4-BE49-F238E27FC236}">
                  <a16:creationId xmlns:a16="http://schemas.microsoft.com/office/drawing/2014/main" id="{89F32DAC-7172-B9D0-31A8-ED6CC678194D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54">
              <a:extLst>
                <a:ext uri="{FF2B5EF4-FFF2-40B4-BE49-F238E27FC236}">
                  <a16:creationId xmlns:a16="http://schemas.microsoft.com/office/drawing/2014/main" id="{679852B4-FDEB-9B4D-5C19-5CAF48C8801E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54">
              <a:extLst>
                <a:ext uri="{FF2B5EF4-FFF2-40B4-BE49-F238E27FC236}">
                  <a16:creationId xmlns:a16="http://schemas.microsoft.com/office/drawing/2014/main" id="{30EC7B09-3924-7B03-7EAC-D0D455EC6121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54">
              <a:extLst>
                <a:ext uri="{FF2B5EF4-FFF2-40B4-BE49-F238E27FC236}">
                  <a16:creationId xmlns:a16="http://schemas.microsoft.com/office/drawing/2014/main" id="{42D31A8B-CBEE-F193-56C8-0437189BB614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54">
              <a:extLst>
                <a:ext uri="{FF2B5EF4-FFF2-40B4-BE49-F238E27FC236}">
                  <a16:creationId xmlns:a16="http://schemas.microsoft.com/office/drawing/2014/main" id="{77088A01-2CCE-AEEE-DF63-3F31ABA34805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54">
              <a:extLst>
                <a:ext uri="{FF2B5EF4-FFF2-40B4-BE49-F238E27FC236}">
                  <a16:creationId xmlns:a16="http://schemas.microsoft.com/office/drawing/2014/main" id="{7E53B5D5-19AC-61D5-70F7-2753489003C5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54">
              <a:extLst>
                <a:ext uri="{FF2B5EF4-FFF2-40B4-BE49-F238E27FC236}">
                  <a16:creationId xmlns:a16="http://schemas.microsoft.com/office/drawing/2014/main" id="{FB2C985B-2EC0-B0C9-0BFB-7D58E533D4B1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54">
              <a:extLst>
                <a:ext uri="{FF2B5EF4-FFF2-40B4-BE49-F238E27FC236}">
                  <a16:creationId xmlns:a16="http://schemas.microsoft.com/office/drawing/2014/main" id="{82ABEB0B-76B2-8EE7-0AA0-F9F72BBAAA63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54">
              <a:extLst>
                <a:ext uri="{FF2B5EF4-FFF2-40B4-BE49-F238E27FC236}">
                  <a16:creationId xmlns:a16="http://schemas.microsoft.com/office/drawing/2014/main" id="{0EE0033A-92AF-3CB9-ABF9-DEF5C343FE73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صورة 3" descr="صورة تحتوي على نص, لقطة شاشة, الخط, المستند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4B4EA925-9857-E184-23D6-049BF075F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42" y="1353014"/>
            <a:ext cx="3218604" cy="19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79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A136EB4B-7121-67AF-2B0B-141F8948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>
            <a:extLst>
              <a:ext uri="{FF2B5EF4-FFF2-40B4-BE49-F238E27FC236}">
                <a16:creationId xmlns:a16="http://schemas.microsoft.com/office/drawing/2014/main" id="{F852728A-82A1-03E6-DCA2-C4AEA5AB941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4692" y="1816534"/>
            <a:ext cx="6112286" cy="17318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2800" i="1" dirty="0" err="1">
                <a:solidFill>
                  <a:srgbClr val="BD64B5"/>
                </a:solidFill>
              </a:rPr>
              <a:t>System.out.println</a:t>
            </a:r>
            <a:r>
              <a:rPr lang="en-US" sz="2800" i="1" dirty="0">
                <a:solidFill>
                  <a:srgbClr val="BD64B5"/>
                </a:solidFill>
              </a:rPr>
              <a:t>("\n-----     </a:t>
            </a:r>
            <a:r>
              <a:rPr lang="en-US" sz="3200" b="1" i="1" dirty="0">
                <a:solidFill>
                  <a:srgbClr val="FF0000"/>
                </a:solidFill>
              </a:rPr>
              <a:t>Thank You </a:t>
            </a:r>
            <a:br>
              <a:rPr lang="en-US" sz="3200" b="1" i="1" dirty="0">
                <a:solidFill>
                  <a:srgbClr val="FF0000"/>
                </a:solidFill>
              </a:rPr>
            </a:br>
            <a:r>
              <a:rPr lang="en-US" sz="3200" b="1" i="1" dirty="0">
                <a:solidFill>
                  <a:srgbClr val="FF0000"/>
                </a:solidFill>
              </a:rPr>
              <a:t>               </a:t>
            </a:r>
            <a:r>
              <a:rPr lang="en-US" sz="3200" i="1" dirty="0">
                <a:solidFill>
                  <a:srgbClr val="BD64B5"/>
                </a:solidFill>
              </a:rPr>
              <a:t>-----</a:t>
            </a:r>
            <a:r>
              <a:rPr lang="en-US" sz="3200" b="1" i="1" dirty="0">
                <a:solidFill>
                  <a:srgbClr val="FF0000"/>
                </a:solidFill>
              </a:rPr>
              <a:t> </a:t>
            </a:r>
            <a:r>
              <a:rPr lang="en-US" sz="2800" i="1" dirty="0">
                <a:solidFill>
                  <a:srgbClr val="BD64B5"/>
                </a:solidFill>
              </a:rPr>
              <a:t>")</a:t>
            </a:r>
            <a:r>
              <a:rPr lang="en" sz="2800" i="1" dirty="0">
                <a:solidFill>
                  <a:srgbClr val="BD64B5"/>
                </a:solidFill>
              </a:rPr>
              <a:t>!</a:t>
            </a:r>
            <a:endParaRPr sz="2800" i="1" dirty="0">
              <a:solidFill>
                <a:srgbClr val="BD64B5"/>
              </a:solidFill>
            </a:endParaRPr>
          </a:p>
        </p:txBody>
      </p:sp>
      <p:sp>
        <p:nvSpPr>
          <p:cNvPr id="240" name="Google Shape;240;p31">
            <a:extLst>
              <a:ext uri="{FF2B5EF4-FFF2-40B4-BE49-F238E27FC236}">
                <a16:creationId xmlns:a16="http://schemas.microsoft.com/office/drawing/2014/main" id="{7F4E3085-F9B2-C125-4A3B-B4F95137017B}"/>
              </a:ext>
            </a:extLst>
          </p:cNvPr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>
            <a:extLst>
              <a:ext uri="{FF2B5EF4-FFF2-40B4-BE49-F238E27FC236}">
                <a16:creationId xmlns:a16="http://schemas.microsoft.com/office/drawing/2014/main" id="{A62F11A3-6A73-D4B7-035B-169A112CFA29}"/>
              </a:ext>
            </a:extLst>
          </p:cNvPr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>
            <a:extLst>
              <a:ext uri="{FF2B5EF4-FFF2-40B4-BE49-F238E27FC236}">
                <a16:creationId xmlns:a16="http://schemas.microsoft.com/office/drawing/2014/main" id="{C8ED0A95-04B3-943B-6E10-6080B50029DC}"/>
              </a:ext>
            </a:extLst>
          </p:cNvPr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 dirty="0">
              <a:solidFill>
                <a:schemeClr val="accent2"/>
              </a:solidFill>
            </a:endParaRPr>
          </a:p>
        </p:txBody>
      </p:sp>
      <p:grpSp>
        <p:nvGrpSpPr>
          <p:cNvPr id="243" name="Google Shape;243;p31">
            <a:extLst>
              <a:ext uri="{FF2B5EF4-FFF2-40B4-BE49-F238E27FC236}">
                <a16:creationId xmlns:a16="http://schemas.microsoft.com/office/drawing/2014/main" id="{FA7BE353-308E-603B-9504-608CD4BE8247}"/>
              </a:ext>
            </a:extLst>
          </p:cNvPr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>
              <a:extLst>
                <a:ext uri="{FF2B5EF4-FFF2-40B4-BE49-F238E27FC236}">
                  <a16:creationId xmlns:a16="http://schemas.microsoft.com/office/drawing/2014/main" id="{FAC00D58-773E-2719-9A9C-776CAD0B93A3}"/>
                </a:ext>
              </a:extLst>
            </p:cNvPr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>
              <a:extLst>
                <a:ext uri="{FF2B5EF4-FFF2-40B4-BE49-F238E27FC236}">
                  <a16:creationId xmlns:a16="http://schemas.microsoft.com/office/drawing/2014/main" id="{8F74F9BB-E003-F253-D7DC-9666579B3DA1}"/>
                </a:ext>
              </a:extLst>
            </p:cNvPr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>
              <a:extLst>
                <a:ext uri="{FF2B5EF4-FFF2-40B4-BE49-F238E27FC236}">
                  <a16:creationId xmlns:a16="http://schemas.microsoft.com/office/drawing/2014/main" id="{FAB4A5C7-6139-1576-07F8-B3311CFD65D8}"/>
                </a:ext>
              </a:extLst>
            </p:cNvPr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>
            <a:extLst>
              <a:ext uri="{FF2B5EF4-FFF2-40B4-BE49-F238E27FC236}">
                <a16:creationId xmlns:a16="http://schemas.microsoft.com/office/drawing/2014/main" id="{92E79109-3443-0090-51E5-7C74213D0F16}"/>
              </a:ext>
            </a:extLst>
          </p:cNvPr>
          <p:cNvGrpSpPr/>
          <p:nvPr/>
        </p:nvGrpSpPr>
        <p:grpSpPr>
          <a:xfrm>
            <a:off x="255130" y="696438"/>
            <a:ext cx="2377907" cy="3907563"/>
            <a:chOff x="5" y="747463"/>
            <a:chExt cx="2377907" cy="3907563"/>
          </a:xfrm>
        </p:grpSpPr>
        <p:sp>
          <p:nvSpPr>
            <p:cNvPr id="248" name="Google Shape;248;p31">
              <a:extLst>
                <a:ext uri="{FF2B5EF4-FFF2-40B4-BE49-F238E27FC236}">
                  <a16:creationId xmlns:a16="http://schemas.microsoft.com/office/drawing/2014/main" id="{01C3DF5B-530C-BCA4-11CF-6B060A26101B}"/>
                </a:ext>
              </a:extLst>
            </p:cNvPr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1">
              <a:extLst>
                <a:ext uri="{FF2B5EF4-FFF2-40B4-BE49-F238E27FC236}">
                  <a16:creationId xmlns:a16="http://schemas.microsoft.com/office/drawing/2014/main" id="{F17EB8DC-81CA-5B0A-BF95-A694DD92D556}"/>
                </a:ext>
              </a:extLst>
            </p:cNvPr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1">
              <a:extLst>
                <a:ext uri="{FF2B5EF4-FFF2-40B4-BE49-F238E27FC236}">
                  <a16:creationId xmlns:a16="http://schemas.microsoft.com/office/drawing/2014/main" id="{206977C4-7201-2AC0-0DE5-9BE3F81B012C}"/>
                </a:ext>
              </a:extLst>
            </p:cNvPr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1">
              <a:extLst>
                <a:ext uri="{FF2B5EF4-FFF2-40B4-BE49-F238E27FC236}">
                  <a16:creationId xmlns:a16="http://schemas.microsoft.com/office/drawing/2014/main" id="{FD898351-1BC7-12BC-0B83-51B7C4B39ECA}"/>
                </a:ext>
              </a:extLst>
            </p:cNvPr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1">
              <a:extLst>
                <a:ext uri="{FF2B5EF4-FFF2-40B4-BE49-F238E27FC236}">
                  <a16:creationId xmlns:a16="http://schemas.microsoft.com/office/drawing/2014/main" id="{6899604B-E39B-9A6E-2430-9DC8AB644592}"/>
                </a:ext>
              </a:extLst>
            </p:cNvPr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1">
              <a:extLst>
                <a:ext uri="{FF2B5EF4-FFF2-40B4-BE49-F238E27FC236}">
                  <a16:creationId xmlns:a16="http://schemas.microsoft.com/office/drawing/2014/main" id="{F5BB37CA-53FC-4FAC-06C0-4E5A6B0BDD44}"/>
                </a:ext>
              </a:extLst>
            </p:cNvPr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>
              <a:extLst>
                <a:ext uri="{FF2B5EF4-FFF2-40B4-BE49-F238E27FC236}">
                  <a16:creationId xmlns:a16="http://schemas.microsoft.com/office/drawing/2014/main" id="{53008380-3901-D5A0-BFC3-7CF3BC0FE306}"/>
                </a:ext>
              </a:extLst>
            </p:cNvPr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1">
              <a:extLst>
                <a:ext uri="{FF2B5EF4-FFF2-40B4-BE49-F238E27FC236}">
                  <a16:creationId xmlns:a16="http://schemas.microsoft.com/office/drawing/2014/main" id="{C6717717-2F52-2E7C-92D5-321889A8B052}"/>
                </a:ext>
              </a:extLst>
            </p:cNvPr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1">
              <a:extLst>
                <a:ext uri="{FF2B5EF4-FFF2-40B4-BE49-F238E27FC236}">
                  <a16:creationId xmlns:a16="http://schemas.microsoft.com/office/drawing/2014/main" id="{3062D0CD-0B08-0BD6-0672-E0C5A9DC394A}"/>
                </a:ext>
              </a:extLst>
            </p:cNvPr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1">
              <a:extLst>
                <a:ext uri="{FF2B5EF4-FFF2-40B4-BE49-F238E27FC236}">
                  <a16:creationId xmlns:a16="http://schemas.microsoft.com/office/drawing/2014/main" id="{90CB776E-E51E-AC1C-5915-305EDD501A3D}"/>
                </a:ext>
              </a:extLst>
            </p:cNvPr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>
              <a:extLst>
                <a:ext uri="{FF2B5EF4-FFF2-40B4-BE49-F238E27FC236}">
                  <a16:creationId xmlns:a16="http://schemas.microsoft.com/office/drawing/2014/main" id="{1AA6443E-8EDF-94C2-CE4F-FDFF30E2A3D6}"/>
                </a:ext>
              </a:extLst>
            </p:cNvPr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>
              <a:extLst>
                <a:ext uri="{FF2B5EF4-FFF2-40B4-BE49-F238E27FC236}">
                  <a16:creationId xmlns:a16="http://schemas.microsoft.com/office/drawing/2014/main" id="{1B4270A1-54D2-1479-ECDB-5787319F782F}"/>
                </a:ext>
              </a:extLst>
            </p:cNvPr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1">
              <a:extLst>
                <a:ext uri="{FF2B5EF4-FFF2-40B4-BE49-F238E27FC236}">
                  <a16:creationId xmlns:a16="http://schemas.microsoft.com/office/drawing/2014/main" id="{F1EDEE84-1DA4-B9E1-D55C-80D87C6B25D9}"/>
                </a:ext>
              </a:extLst>
            </p:cNvPr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1">
              <a:extLst>
                <a:ext uri="{FF2B5EF4-FFF2-40B4-BE49-F238E27FC236}">
                  <a16:creationId xmlns:a16="http://schemas.microsoft.com/office/drawing/2014/main" id="{C9A54586-0458-8985-B5DD-B0E5EF9A034E}"/>
                </a:ext>
              </a:extLst>
            </p:cNvPr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1">
              <a:extLst>
                <a:ext uri="{FF2B5EF4-FFF2-40B4-BE49-F238E27FC236}">
                  <a16:creationId xmlns:a16="http://schemas.microsoft.com/office/drawing/2014/main" id="{6EA8F88A-FFC0-F43B-F471-5201FD676DD6}"/>
                </a:ext>
              </a:extLst>
            </p:cNvPr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1">
              <a:extLst>
                <a:ext uri="{FF2B5EF4-FFF2-40B4-BE49-F238E27FC236}">
                  <a16:creationId xmlns:a16="http://schemas.microsoft.com/office/drawing/2014/main" id="{AA23EDD2-C366-D5C3-E6C3-9C8F1EC91275}"/>
                </a:ext>
              </a:extLst>
            </p:cNvPr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>
              <a:extLst>
                <a:ext uri="{FF2B5EF4-FFF2-40B4-BE49-F238E27FC236}">
                  <a16:creationId xmlns:a16="http://schemas.microsoft.com/office/drawing/2014/main" id="{440904B6-2180-CB91-B76D-E9908DC92CA0}"/>
                </a:ext>
              </a:extLst>
            </p:cNvPr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1">
              <a:extLst>
                <a:ext uri="{FF2B5EF4-FFF2-40B4-BE49-F238E27FC236}">
                  <a16:creationId xmlns:a16="http://schemas.microsoft.com/office/drawing/2014/main" id="{9A055E10-0151-0D29-2AF4-186634E4EF63}"/>
                </a:ext>
              </a:extLst>
            </p:cNvPr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1">
              <a:extLst>
                <a:ext uri="{FF2B5EF4-FFF2-40B4-BE49-F238E27FC236}">
                  <a16:creationId xmlns:a16="http://schemas.microsoft.com/office/drawing/2014/main" id="{25B6563C-9421-919A-EFE8-837A6EC80EC6}"/>
                </a:ext>
              </a:extLst>
            </p:cNvPr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>
              <a:extLst>
                <a:ext uri="{FF2B5EF4-FFF2-40B4-BE49-F238E27FC236}">
                  <a16:creationId xmlns:a16="http://schemas.microsoft.com/office/drawing/2014/main" id="{A8897726-78CD-5394-3648-05D15A36E2ED}"/>
                </a:ext>
              </a:extLst>
            </p:cNvPr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1">
              <a:extLst>
                <a:ext uri="{FF2B5EF4-FFF2-40B4-BE49-F238E27FC236}">
                  <a16:creationId xmlns:a16="http://schemas.microsoft.com/office/drawing/2014/main" id="{C7D30A12-3AAD-4B33-2F9D-DC5681C5E2D2}"/>
                </a:ext>
              </a:extLst>
            </p:cNvPr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>
              <a:extLst>
                <a:ext uri="{FF2B5EF4-FFF2-40B4-BE49-F238E27FC236}">
                  <a16:creationId xmlns:a16="http://schemas.microsoft.com/office/drawing/2014/main" id="{1456D624-8E5C-C155-D2A8-CAD3BBA847C8}"/>
                </a:ext>
              </a:extLst>
            </p:cNvPr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>
              <a:extLst>
                <a:ext uri="{FF2B5EF4-FFF2-40B4-BE49-F238E27FC236}">
                  <a16:creationId xmlns:a16="http://schemas.microsoft.com/office/drawing/2014/main" id="{D765463D-1D5F-46C4-63AC-FF59336727A0}"/>
                </a:ext>
              </a:extLst>
            </p:cNvPr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>
              <a:extLst>
                <a:ext uri="{FF2B5EF4-FFF2-40B4-BE49-F238E27FC236}">
                  <a16:creationId xmlns:a16="http://schemas.microsoft.com/office/drawing/2014/main" id="{7AB379A6-452D-627A-96DD-C404B544C31E}"/>
                </a:ext>
              </a:extLst>
            </p:cNvPr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>
              <a:extLst>
                <a:ext uri="{FF2B5EF4-FFF2-40B4-BE49-F238E27FC236}">
                  <a16:creationId xmlns:a16="http://schemas.microsoft.com/office/drawing/2014/main" id="{B04D5DA4-3391-3DFF-FBCD-2237AE8DB731}"/>
                </a:ext>
              </a:extLst>
            </p:cNvPr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>
              <a:extLst>
                <a:ext uri="{FF2B5EF4-FFF2-40B4-BE49-F238E27FC236}">
                  <a16:creationId xmlns:a16="http://schemas.microsoft.com/office/drawing/2014/main" id="{D71035B1-8F93-86DF-908D-4A7EDD4411A9}"/>
                </a:ext>
              </a:extLst>
            </p:cNvPr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>
              <a:extLst>
                <a:ext uri="{FF2B5EF4-FFF2-40B4-BE49-F238E27FC236}">
                  <a16:creationId xmlns:a16="http://schemas.microsoft.com/office/drawing/2014/main" id="{8267D894-A314-B207-73CE-7D05D1323470}"/>
                </a:ext>
              </a:extLst>
            </p:cNvPr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>
              <a:extLst>
                <a:ext uri="{FF2B5EF4-FFF2-40B4-BE49-F238E27FC236}">
                  <a16:creationId xmlns:a16="http://schemas.microsoft.com/office/drawing/2014/main" id="{15F828A8-F93F-3328-10D8-B401D0B62375}"/>
                </a:ext>
              </a:extLst>
            </p:cNvPr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>
              <a:extLst>
                <a:ext uri="{FF2B5EF4-FFF2-40B4-BE49-F238E27FC236}">
                  <a16:creationId xmlns:a16="http://schemas.microsoft.com/office/drawing/2014/main" id="{D1C4F3C6-952A-F61A-0435-47676FBD3828}"/>
                </a:ext>
              </a:extLst>
            </p:cNvPr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1">
              <a:extLst>
                <a:ext uri="{FF2B5EF4-FFF2-40B4-BE49-F238E27FC236}">
                  <a16:creationId xmlns:a16="http://schemas.microsoft.com/office/drawing/2014/main" id="{06B4FA57-0408-6ADE-7D28-84111659664A}"/>
                </a:ext>
              </a:extLst>
            </p:cNvPr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1">
              <a:extLst>
                <a:ext uri="{FF2B5EF4-FFF2-40B4-BE49-F238E27FC236}">
                  <a16:creationId xmlns:a16="http://schemas.microsoft.com/office/drawing/2014/main" id="{27474351-BE6D-6401-5E5C-688959F36FD7}"/>
                </a:ext>
              </a:extLst>
            </p:cNvPr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>
              <a:extLst>
                <a:ext uri="{FF2B5EF4-FFF2-40B4-BE49-F238E27FC236}">
                  <a16:creationId xmlns:a16="http://schemas.microsoft.com/office/drawing/2014/main" id="{0B627F48-2B03-2623-D908-ED20004D92A9}"/>
                </a:ext>
              </a:extLst>
            </p:cNvPr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>
              <a:extLst>
                <a:ext uri="{FF2B5EF4-FFF2-40B4-BE49-F238E27FC236}">
                  <a16:creationId xmlns:a16="http://schemas.microsoft.com/office/drawing/2014/main" id="{EEA72AA5-32CB-31C4-5C11-061B3020D2FA}"/>
                </a:ext>
              </a:extLst>
            </p:cNvPr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>
              <a:extLst>
                <a:ext uri="{FF2B5EF4-FFF2-40B4-BE49-F238E27FC236}">
                  <a16:creationId xmlns:a16="http://schemas.microsoft.com/office/drawing/2014/main" id="{ADAA09F0-83F8-08F2-67D4-3C37E9DD4726}"/>
                </a:ext>
              </a:extLst>
            </p:cNvPr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>
              <a:extLst>
                <a:ext uri="{FF2B5EF4-FFF2-40B4-BE49-F238E27FC236}">
                  <a16:creationId xmlns:a16="http://schemas.microsoft.com/office/drawing/2014/main" id="{40FFDAF9-63AF-094C-6953-82D2FCD83978}"/>
                </a:ext>
              </a:extLst>
            </p:cNvPr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>
              <a:extLst>
                <a:ext uri="{FF2B5EF4-FFF2-40B4-BE49-F238E27FC236}">
                  <a16:creationId xmlns:a16="http://schemas.microsoft.com/office/drawing/2014/main" id="{4C2792AF-3B8A-92AC-55A1-0852A459F796}"/>
                </a:ext>
              </a:extLst>
            </p:cNvPr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1">
              <a:extLst>
                <a:ext uri="{FF2B5EF4-FFF2-40B4-BE49-F238E27FC236}">
                  <a16:creationId xmlns:a16="http://schemas.microsoft.com/office/drawing/2014/main" id="{FA8C4166-886E-7FC3-4F2A-07442C6052C0}"/>
                </a:ext>
              </a:extLst>
            </p:cNvPr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1">
              <a:extLst>
                <a:ext uri="{FF2B5EF4-FFF2-40B4-BE49-F238E27FC236}">
                  <a16:creationId xmlns:a16="http://schemas.microsoft.com/office/drawing/2014/main" id="{4E303A80-74F6-3348-014C-4D46C7E0DBC4}"/>
                </a:ext>
              </a:extLst>
            </p:cNvPr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1">
              <a:extLst>
                <a:ext uri="{FF2B5EF4-FFF2-40B4-BE49-F238E27FC236}">
                  <a16:creationId xmlns:a16="http://schemas.microsoft.com/office/drawing/2014/main" id="{E6404F5E-9FEF-0BD5-5A28-EFBD077D549A}"/>
                </a:ext>
              </a:extLst>
            </p:cNvPr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1">
              <a:extLst>
                <a:ext uri="{FF2B5EF4-FFF2-40B4-BE49-F238E27FC236}">
                  <a16:creationId xmlns:a16="http://schemas.microsoft.com/office/drawing/2014/main" id="{473042EA-0A87-D8BA-667F-ACB167B6383F}"/>
                </a:ext>
              </a:extLst>
            </p:cNvPr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>
              <a:extLst>
                <a:ext uri="{FF2B5EF4-FFF2-40B4-BE49-F238E27FC236}">
                  <a16:creationId xmlns:a16="http://schemas.microsoft.com/office/drawing/2014/main" id="{6DC3E893-1CCE-5E9F-DCF7-7D68DF25EA6C}"/>
                </a:ext>
              </a:extLst>
            </p:cNvPr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1">
              <a:extLst>
                <a:ext uri="{FF2B5EF4-FFF2-40B4-BE49-F238E27FC236}">
                  <a16:creationId xmlns:a16="http://schemas.microsoft.com/office/drawing/2014/main" id="{D519DE39-09C1-8E69-55BB-E5FF1F6A62FF}"/>
                </a:ext>
              </a:extLst>
            </p:cNvPr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1">
              <a:extLst>
                <a:ext uri="{FF2B5EF4-FFF2-40B4-BE49-F238E27FC236}">
                  <a16:creationId xmlns:a16="http://schemas.microsoft.com/office/drawing/2014/main" id="{8DA763B4-E4F0-C45C-AACF-DB6B5CEA04C4}"/>
                </a:ext>
              </a:extLst>
            </p:cNvPr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1">
              <a:extLst>
                <a:ext uri="{FF2B5EF4-FFF2-40B4-BE49-F238E27FC236}">
                  <a16:creationId xmlns:a16="http://schemas.microsoft.com/office/drawing/2014/main" id="{79219FC1-E023-AE70-FDFF-16732677CEDF}"/>
                </a:ext>
              </a:extLst>
            </p:cNvPr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1">
              <a:extLst>
                <a:ext uri="{FF2B5EF4-FFF2-40B4-BE49-F238E27FC236}">
                  <a16:creationId xmlns:a16="http://schemas.microsoft.com/office/drawing/2014/main" id="{ECE024BF-AA48-EFBC-FD2E-EFE00D6F863F}"/>
                </a:ext>
              </a:extLst>
            </p:cNvPr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75175755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994</Words>
  <Application>Microsoft Office PowerPoint</Application>
  <PresentationFormat>عرض على الشاشة (16:9)</PresentationFormat>
  <Paragraphs>317</Paragraphs>
  <Slides>32</Slides>
  <Notes>32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10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32</vt:i4>
      </vt:variant>
    </vt:vector>
  </HeadingPairs>
  <TitlesOfParts>
    <vt:vector size="43" baseType="lpstr">
      <vt:lpstr>Cambria Math</vt:lpstr>
      <vt:lpstr>Fira Code</vt:lpstr>
      <vt:lpstr>Anaheim</vt:lpstr>
      <vt:lpstr>Arial</vt:lpstr>
      <vt:lpstr>Nunito Light</vt:lpstr>
      <vt:lpstr>Bebas Neue</vt:lpstr>
      <vt:lpstr>Source Code Pro Medium</vt:lpstr>
      <vt:lpstr>Comfortaa</vt:lpstr>
      <vt:lpstr>Source Code Pro</vt:lpstr>
      <vt:lpstr>Wingdings</vt:lpstr>
      <vt:lpstr>Introduction to Java Programming for High School by Slidesgo</vt:lpstr>
      <vt:lpstr>Sorting          Algorithms    Benchmark</vt:lpstr>
      <vt:lpstr>Project  Goal</vt:lpstr>
      <vt:lpstr>Implemented         Algorithms</vt:lpstr>
      <vt:lpstr>Implement Algorithms </vt:lpstr>
      <vt:lpstr>Randomized          Quick Sort </vt:lpstr>
      <vt:lpstr>Randomized  Quick Sort </vt:lpstr>
      <vt:lpstr>3 - Way            Partitioning</vt:lpstr>
      <vt:lpstr>3 – Ways   Partitioning </vt:lpstr>
      <vt:lpstr> Dataset        Types </vt:lpstr>
      <vt:lpstr>Dataset Types </vt:lpstr>
      <vt:lpstr> Dataset        Size </vt:lpstr>
      <vt:lpstr>Dataset Size  </vt:lpstr>
      <vt:lpstr> Data        Generation</vt:lpstr>
      <vt:lpstr>عرض تقديمي في PowerPoint</vt:lpstr>
      <vt:lpstr>Performance       Measurement</vt:lpstr>
      <vt:lpstr>Performance Measurement</vt:lpstr>
      <vt:lpstr>Result         Table  </vt:lpstr>
      <vt:lpstr>Sortind Algorithm Random Data</vt:lpstr>
      <vt:lpstr>Sortind Algorithm Sorted Data</vt:lpstr>
      <vt:lpstr>Sortind Algorithm Reverse Sorted  Data</vt:lpstr>
      <vt:lpstr>Sortind Algorithm Few Unique  Data</vt:lpstr>
      <vt:lpstr>Result         Line Chart   </vt:lpstr>
      <vt:lpstr>Line Chart – Random  Data</vt:lpstr>
      <vt:lpstr>Line Chart – Sorted  Data</vt:lpstr>
      <vt:lpstr>Line Chart – Reverse Sorted   Data</vt:lpstr>
      <vt:lpstr>Line Chart – Few Unique   Data</vt:lpstr>
      <vt:lpstr>Results Summary</vt:lpstr>
      <vt:lpstr>Insertion sort </vt:lpstr>
      <vt:lpstr>Merge  sort </vt:lpstr>
      <vt:lpstr>Heap  sort </vt:lpstr>
      <vt:lpstr>Quick  sort </vt:lpstr>
      <vt:lpstr>System.out.println("\n-----     Thank You                 ----- ")!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Ahmad</cp:lastModifiedBy>
  <cp:revision>2</cp:revision>
  <dcterms:modified xsi:type="dcterms:W3CDTF">2025-12-13T14:28:53Z</dcterms:modified>
</cp:coreProperties>
</file>